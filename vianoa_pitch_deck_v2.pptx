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91BD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0.6</c:v>
                </c:pt>
                <c:pt idx="2">
                  <c:v>1.5</c:v>
                </c:pt>
                <c:pt idx="3">
                  <c:v>3.2</c:v>
                </c:pt>
                <c:pt idx="4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</c:v>
                </c:pt>
                <c:pt idx="1">
                  <c:v>1.2</c:v>
                </c:pt>
                <c:pt idx="2">
                  <c:v>3</c:v>
                </c:pt>
                <c:pt idx="3">
                  <c:v>7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2.5</c:v>
                </c:pt>
                <c:pt idx="2">
                  <c:v>7.5</c:v>
                </c:pt>
                <c:pt idx="3">
                  <c:v>18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6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6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1645920" cy="164592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502920"/>
            <a:ext cx="1005840" cy="100584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182880"/>
            <a:ext cx="731520" cy="731520"/>
          </a:xfrm>
          <a:prstGeom prst="ellipse">
            <a:avLst/>
          </a:prstGeom>
          <a:solidFill>
            <a:srgbClr val="0C1E30"/>
          </a:solidFill>
          <a:ln w="12700">
            <a:solidFill>
              <a:srgbClr val="0C1E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65760" y="4114800"/>
            <a:ext cx="1280160" cy="128016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4709160"/>
            <a:ext cx="640080" cy="64008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3484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325880" y="868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&amp; GeoAI Experience Intelligence Platform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people, places, AI &amp; geography into one seamless travel experience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5943600" cy="3657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replacing Google, Booking.com or ChatGPT — the intelligence layer above them 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Platform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Strategic Partner Presentation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planning is broken — and nobody owns the full journey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visited before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booking is made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724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Expedia Research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46304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10128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24912" y="1938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· Booking.com · TripAdvisor · Instagram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connects the full picture.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28016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71032" y="146304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2744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6248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71032" y="1938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don't know who you are, why you're traveling,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you're going with, or what you truly want.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01752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24912" y="320040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10128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Booking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24912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happens on social media.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happens elsewhere. Nothing is remembered.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301752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71032" y="320040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56248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Are Left Behind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71032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boards &amp; cities lack digital intelligence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to compete in the algorithmic age.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617720"/>
            <a:ext cx="8321040" cy="301752"/>
          </a:xfrm>
          <a:prstGeom prst="roundRect">
            <a:avLst>
              <a:gd name="adj" fmla="val 18182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451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 industry generates $11.6 trillion annually (WTTC 2025) — yet the traveler experience remains fundamentally disconnected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$11.6T industry — the digital slice is growing fastest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80160"/>
            <a:ext cx="27432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Economy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$16.5T by 2035 · CAGR ~3.5%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36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context — not directly addressable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9272" y="128016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280160"/>
            <a:ext cx="2743200" cy="20116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Online Bookings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$650B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2025 (est.)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56432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$1T+ by 2030 · CAGR ~9%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56432" y="3236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 / Statista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27064" y="128016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280160"/>
            <a:ext cx="2743200" cy="201168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(bookable)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~$100B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364224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portion of $271B total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64224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$160B+ digital by 2030 · CAGR 8%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4224" y="3236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Phocuswright: $271B total; ~37% digitally bookable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74904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White Label (fastest-growing)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60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B2B +21% in 2024 (30% of revenue). DMO &amp; Destination digital spending growing ~12%/yr.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ViaNova's recurring SaaS model targets this segment first.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74904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Beachhead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160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€347B bookings (2024) → €453B by 2030 (Phocuswright). High DMO density,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market, ideal entry for Destination Hub model.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converging to make this the right moment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Matured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 deliver reliable context reasoning.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at 1:1 depth is finally viable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Is Emerging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1768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AI (Esri, OSM, Google Maps Platform) is converging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LLMs. ViaNova is positioned before incumbents move.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Is at Record Highs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" y="3657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1.52B international arrivals in 2025 (+4% YoY). UNWTO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1.76B by 2030. Digital planning demand surges with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Have Shifted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01768" y="3657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expect Netflix-grade personalization. 38 websites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(Google) signals massive unmet need for a unified tool.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ViaNova: one unified platform, four intelligent layers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240" y="1755648"/>
            <a:ext cx="731520" cy="2926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91640"/>
            <a:ext cx="164592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46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personalization,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Lifecycle, Profiles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04488" y="1984248"/>
            <a:ext cx="32004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69164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746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context-aware travel intelligence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1460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514600"/>
            <a:ext cx="164592" cy="71323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5694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862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Label, DMO Hub,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&amp; Marketplace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04488" y="2807208"/>
            <a:ext cx="320040" cy="7315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251460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2569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&amp; API: DMOs, agencies, platforms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33756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337560"/>
            <a:ext cx="164592" cy="71323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92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685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Engine, GeoAI,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 integration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04488" y="3630168"/>
            <a:ext cx="320040" cy="7315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333756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685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tourism management &amp; analytics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16052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160520"/>
            <a:ext cx="164592" cy="71323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2153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Platform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4507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GGILS, Data, Security,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Infrastructure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04488" y="4453128"/>
            <a:ext cx="320040" cy="7315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416052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&amp; Context APIs for travel-tech builders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no competitor combines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499616"/>
            <a:ext cx="475488" cy="475488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152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" y="20482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full traveler context: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where, when, why, budget, party, history.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every interaction dynamically.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499616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05272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Intelligence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1768" y="20482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AI with spatial geography (GeoAI).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proximity, walkability, culture,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— not just coordinates.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7296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3374136"/>
            <a:ext cx="475488" cy="47548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6152" y="3355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3922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Geographic Intelligence Layer Service.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enriches geographic data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OSM, Wikidata, UNESCO, Wikimedia.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17296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3374136"/>
            <a:ext cx="475488" cy="47548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05272" y="3355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Trip Lifecycle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01768" y="3922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4 phases: Pre-Planning → Planning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(real-time) → Vault (memories &amp; reuse).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platform spans the full journey.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Claude, OpenAI, OSM, Google Places, Amadeus &amp; Ticketmaster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trip lifecycle — from inspiration to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&amp; Discovery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0299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" y="25603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Places &amp;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" y="30906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62102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Recommendations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" y="415137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Destinations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Organize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9192" y="202996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Builder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79192" y="2560320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Itinerary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79192" y="3090672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Workspace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79192" y="3621024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79192" y="4151376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6207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Integration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Navigation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202996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Map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82312" y="2560320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Navigation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82312" y="3090672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Alerts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82312" y="3621024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Discovery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4151376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6519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2084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2084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Reuse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2084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85432" y="202996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6831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Archive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885432" y="2560320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6831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Memories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85432" y="3090672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831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Log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885432" y="3621024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6831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as Template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885432" y="4151376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6831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Itinerary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revenue streams across B2C, B2B and platform layers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19933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B2C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$4–6/mo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4780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trip planning, offline access, priority support. Benchmarked: TripIt $4/mo · Roadtrippers $2.50/mo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87752" y="13258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325880"/>
            <a:ext cx="1993392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79192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$1,800–5,000/mo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4780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for DMOs, tourism boards &amp; travel brands. 6–12 month sales cycle.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64024" y="13258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1325880"/>
            <a:ext cx="1993392" cy="16459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55464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 commission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73752" y="24780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experience &amp; activity bookings. Digitally bookable market: ~$100B (Phocuswright).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0296" y="13258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325880"/>
            <a:ext cx="1993392" cy="16459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31736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31736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50024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/ Rev-share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50024" y="24780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hotels &amp; services via Amadeus, Booking.com, Expedia Partner Network.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31546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154680"/>
            <a:ext cx="19933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" y="4023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" y="43068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GeoAI, Context Engine &amp; GGILS APIs for travel-tech builders and enterprise integrations.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87752" y="31546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87752" y="3154680"/>
            <a:ext cx="1993392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79192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9192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97480" y="4023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contract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97480" y="43068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intelligence for large travel groups. Long sales cycle; high LTV contracts.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64024" y="31546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4024" y="3154680"/>
            <a:ext cx="1993392" cy="16459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Hub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55464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5464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Gov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73752" y="4023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$4,000–15,000/mo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73752" y="43068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destination management platform for cities &amp; regions. Growing DMO digital budget.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40296" y="3154680"/>
            <a:ext cx="199339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0296" y="3154680"/>
            <a:ext cx="1993392" cy="164592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Services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031736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1736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50024" y="4023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50024" y="43068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training, custom integrations for White Label &amp; Enterprise clients.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honest sizing for the trip-planning layer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3611880"/>
          </a:xfrm>
          <a:prstGeom prst="roundRect">
            <a:avLst>
              <a:gd name="adj" fmla="val 5063"/>
            </a:avLst>
          </a:prstGeom>
          <a:solidFill>
            <a:srgbClr val="EBF5FA"/>
          </a:solidFill>
          <a:ln w="12700">
            <a:solidFill>
              <a:srgbClr val="C0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economy — economic context, not fully addressable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0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1.52B international travelers · $1.6T in bookings · 366M jobs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514600"/>
            <a:ext cx="7772400" cy="2121408"/>
          </a:xfrm>
          <a:prstGeom prst="roundRect">
            <a:avLst>
              <a:gd name="adj" fmla="val 6466"/>
            </a:avLst>
          </a:prstGeom>
          <a:solidFill>
            <a:srgbClr val="D5EEF8"/>
          </a:solidFill>
          <a:ln w="12700">
            <a:solidFill>
              <a:srgbClr val="A0C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Digitally-bookable experiences + online travel planning + B2B SaaS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4904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experiences ~$100B + online planning tools + DMO SaaS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priority · digital-native travelers · DMOs &amp; travel-tech platforms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3767328"/>
            <a:ext cx="713232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3080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Year 1–5 target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38221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$5–20M ARR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83080" y="41422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60–120K premium users · 20–50 White Label clients · 3–10 Destination Hubs · CAC: $50–150 per premium user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revenue outlook — assumptions made explicit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737360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737360"/>
            <a:ext cx="164592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7739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to commercial MVP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97880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$2.5–3.5M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395728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395728"/>
            <a:ext cx="16459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4323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CAC (premium user)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2670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$50–150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71232" y="26700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benchmark: travel apps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669280" y="3054096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054096"/>
            <a:ext cx="16459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0906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at $5/mo × 18mo avg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97880" y="3328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71232" y="33284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target &gt;2.5x by Yr 3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69280" y="3712464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712464"/>
            <a:ext cx="164592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7490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ARR by Year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97880" y="3986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71232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from $20M — conservative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69280" y="4370832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4370832"/>
            <a:ext cx="164592" cy="566928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97880" y="440740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at Year 5 (base)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897880" y="4645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$60–90M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71232" y="4645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7–8× ARR multiple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scenario revised downward to reflect realistic CAC and 2–4% premium conversion rate (industry benchmark for travel apps).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occupies a unique intelligence layer — not a booking engine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0" y="3035808"/>
            <a:ext cx="5120640" cy="0"/>
          </a:xfrm>
          <a:prstGeom prst="line">
            <a:avLst/>
          </a:prstGeom>
          <a:noFill/>
          <a:ln w="12700">
            <a:solidFill>
              <a:srgbClr val="C0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298448"/>
            <a:ext cx="0" cy="3474720"/>
          </a:xfrm>
          <a:prstGeom prst="line">
            <a:avLst/>
          </a:prstGeom>
          <a:noFill/>
          <a:ln w="12700">
            <a:solidFill>
              <a:srgbClr val="C0C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Personalization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Personalization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4517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28493" y="2995574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6237" y="297728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70048" y="2648102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62981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6749" y="2752344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4493" y="2734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Travel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23667" y="2231136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1411" y="2212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TripAdvisor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14016" y="3343046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32475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88813" y="2057400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6557" y="2039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09437" y="137525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9205" y="139354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0" y="1261872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1298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Google Trips shut down 2019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60920" y="1645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ViaNova wins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20299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19751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platform: Pre-Planning→Live→Vault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250545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24505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Engine: who, why, when, how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60920" y="298094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4656" y="2926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GeoAI: spatial beyond GPS coordinates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60920" y="34564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3401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GGILS: geographic data layer (unique)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60920" y="39319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387705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Google/Booking — not vs. them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0920" y="44074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34656" y="435254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Label: invisible for destinations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digital travelers in Europe · Scale: global B2B &amp; destinations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Year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Beachhead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" y="22128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freemium for European travelers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" y="28072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digital-native 25–40, 2+ trips/yr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" y="34015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Acquisition: SEO, travel content, influencers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" y="39959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Premium: $4–6/mo AI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Year 1–2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87752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White Label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34056" y="221284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DMOs &amp; tourism boards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34056" y="280720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Hub for cities &amp; regions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34056" y="340156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6936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&amp; OTA white-label deals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34056" y="399592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$1,800–5,000/mo · 6–12mo sales cycle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64024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Year 2–3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64024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API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10328" y="221284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93208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bookings: ~$100B digital market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10328" y="280720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&amp; Context API for dev ecosystem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0328" y="340156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93208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Affiliate: Booking, Amadeus, Expedia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0328" y="399592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travel management pilots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0296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Year 3–5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40296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86600" y="221284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&amp; APAC expansion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86600" y="280720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multi-currency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86600" y="340156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as a Service licensing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86600" y="399592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or acquisition path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chosen as beachhead — platform architecture is extensible to any location + context vertical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architecture to production: a clear 18-month path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V5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files · TypeScript + React + Vite + Tailwind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322576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768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architecture: 7 delivery waves (W0–W6)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770632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249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infrastructure capabilities designed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218688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 layers, 3 deployment profiles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6667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2102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data domains (mock — architecture proven)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score: 92/100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171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readiness: 28/100 (no live APIs yet)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1298448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 — V6 → V7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87452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15000" y="18562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Connections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2167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· OpenWeather · PostGIS · OpenAI · Claude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6791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679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15000" y="2660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Differentiators Live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29718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· Context Engine · AI Kids Mode · AR View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48386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483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15000" y="34655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37764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Amadeus flights · Hotel booking · Ticketmaster · First White Label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28853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288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4270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17720" y="4581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· OSM deep integration · Multi-tenant White Label · Destination Hub V1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34840" y="4709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readiness target: 91/100 by end of roadmap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$750K Pre-Seed to bring ViaNova to production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pre-money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APIs · Core team · Pilot users · First White Label deal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02152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pre-money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02152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growth · 10+ White Label · Marketplace V1 · Team to 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27064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9944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409944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 pre-money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9944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9944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· Enterprise · Platform APIs · 60K+ premium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77640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0C1E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Pre-Seed investors ($250K–$750K)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DMO / Tourism board partnerships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data provider partnerships (Maps, Flights, Weather)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Travel-tech co-development &amp; strategic alliances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194560" cy="219456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0"/>
            <a:ext cx="1280160" cy="128016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40080" y="3749040"/>
            <a:ext cx="1645920" cy="164592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2316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journey deserves intelligence."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will become the intelligence layer of the global travel industry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AI, GeoAI, and human context into the platform that travels with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5272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Travelers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knows you,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where you are,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makes every trip extraordinary.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3308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Destinations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tourism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cities, DMOs and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in the digital 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1344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Industry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intelligence layer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White Label &amp;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powers the next generation.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contact@vianoa.io  |  vianoa.io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2026-07-19T09:40:02Z</dcterms:created>
  <dcterms:modified xsi:type="dcterms:W3CDTF">2026-07-19T09:40:02Z</dcterms:modified>
</cp:coreProperties>
</file>