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שמרני</c:v>
                </c:pt>
              </c:strCache>
            </c:strRef>
          </c:tx>
          <c:spPr>
            <a:solidFill>
              <a:srgbClr val="91BD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2B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שנה 1</c:v>
                  </c:pt>
                  <c:pt idx="1">
                    <c:v>שנה 2</c:v>
                  </c:pt>
                  <c:pt idx="2">
                    <c:v>שנה 3</c:v>
                  </c:pt>
                  <c:pt idx="3">
                    <c:v>שנה 4</c:v>
                  </c:pt>
                  <c:pt idx="4">
                    <c:v>שנה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0.2</c:v>
                </c:pt>
                <c:pt idx="1">
                  <c:v>0.6</c:v>
                </c:pt>
                <c:pt idx="2">
                  <c:v>1.5</c:v>
                </c:pt>
                <c:pt idx="3">
                  <c:v>3.2</c:v>
                </c:pt>
                <c:pt idx="4">
                  <c:v>6.5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בסיס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2B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שנה 1</c:v>
                  </c:pt>
                  <c:pt idx="1">
                    <c:v>שנה 2</c:v>
                  </c:pt>
                  <c:pt idx="2">
                    <c:v>שנה 3</c:v>
                  </c:pt>
                  <c:pt idx="3">
                    <c:v>שנה 4</c:v>
                  </c:pt>
                  <c:pt idx="4">
                    <c:v>שנה 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0.4</c:v>
                </c:pt>
                <c:pt idx="1">
                  <c:v>1.2</c:v>
                </c:pt>
                <c:pt idx="2">
                  <c:v>3</c:v>
                </c:pt>
                <c:pt idx="3">
                  <c:v>7</c:v>
                </c:pt>
                <c:pt idx="4">
                  <c:v>16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צמיחה</c:v>
                </c:pt>
              </c:strCache>
            </c:strRef>
          </c:tx>
          <c:spPr>
            <a:solidFill>
              <a:srgbClr val="0A162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2B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שנה 1</c:v>
                  </c:pt>
                  <c:pt idx="1">
                    <c:v>שנה 2</c:v>
                  </c:pt>
                  <c:pt idx="2">
                    <c:v>שנה 3</c:v>
                  </c:pt>
                  <c:pt idx="3">
                    <c:v>שנה 4</c:v>
                  </c:pt>
                  <c:pt idx="4">
                    <c:v>שנה 5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0.6</c:v>
                </c:pt>
                <c:pt idx="1">
                  <c:v>2.5</c:v>
                </c:pt>
                <c:pt idx="2">
                  <c:v>7.5</c:v>
                </c:pt>
                <c:pt idx="3">
                  <c:v>18</c:v>
                </c:pt>
                <c:pt idx="4">
                  <c:v>38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A2B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EA6B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EA6B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74320" y="-365760"/>
            <a:ext cx="1645920" cy="1645920"/>
          </a:xfrm>
          <a:prstGeom prst="ellipse">
            <a:avLst/>
          </a:prstGeom>
          <a:solidFill>
            <a:srgbClr val="0D2035"/>
          </a:solidFill>
          <a:ln w="12700">
            <a:solidFill>
              <a:srgbClr val="0D20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320040" y="502920"/>
            <a:ext cx="1005840" cy="1005840"/>
          </a:xfrm>
          <a:prstGeom prst="ellipse">
            <a:avLst/>
          </a:prstGeom>
          <a:solidFill>
            <a:srgbClr val="0E2540"/>
          </a:solidFill>
          <a:ln w="12700">
            <a:solidFill>
              <a:srgbClr val="0E25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-182880"/>
            <a:ext cx="731520" cy="731520"/>
          </a:xfrm>
          <a:prstGeom prst="ellipse">
            <a:avLst/>
          </a:prstGeom>
          <a:solidFill>
            <a:srgbClr val="0C1E30"/>
          </a:solidFill>
          <a:ln w="12700">
            <a:solidFill>
              <a:srgbClr val="0C1E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0" y="4114800"/>
            <a:ext cx="1280160" cy="1280160"/>
          </a:xfrm>
          <a:prstGeom prst="ellipse">
            <a:avLst/>
          </a:prstGeom>
          <a:solidFill>
            <a:srgbClr val="0D2035"/>
          </a:solidFill>
          <a:ln w="12700">
            <a:solidFill>
              <a:srgbClr val="0D20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92440" y="4709160"/>
            <a:ext cx="640080" cy="640080"/>
          </a:xfrm>
          <a:prstGeom prst="ellipse">
            <a:avLst/>
          </a:prstGeom>
          <a:solidFill>
            <a:srgbClr val="0E2540"/>
          </a:solidFill>
          <a:ln w="12700">
            <a:solidFill>
              <a:srgbClr val="0E25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0" y="4434840"/>
            <a:ext cx="32004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86868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6903720" y="86868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411480" y="178308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פלטפורמת הבינה החוויתית AI &amp; GeoAI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411480" y="233172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מחברת אנשים, מקומות, בינה מלאכותית וגאוגרפיה לחוויית נסיעה אחת רציפה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743200" y="2926080"/>
            <a:ext cx="5943600" cy="36576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01752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לא מחליפה את Google, Booking.com או ChatGPT — שכבת הבינה שמעליהם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3657600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122040"/>
          </a:solidFill>
          <a:ln w="12700">
            <a:solidFill>
              <a:srgbClr val="1220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6576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פלטפורמת חוויות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651760" y="3657600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122040"/>
          </a:solidFill>
          <a:ln w="12700">
            <a:solidFill>
              <a:srgbClr val="1220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36576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פלטפורמת עסקים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00600" y="3657600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122040"/>
          </a:solidFill>
          <a:ln w="12700">
            <a:solidFill>
              <a:srgbClr val="1220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36576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פלטפורמת בינה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949440" y="3657600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122040"/>
          </a:solidFill>
          <a:ln w="12700">
            <a:solidFill>
              <a:srgbClr val="1220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0" y="36576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פלטפורמת תפעול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1480" y="461772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3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למשקיעים ושותפים אסטרטגיים  |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086600" y="228600"/>
            <a:ext cx="1645920" cy="256032"/>
          </a:xfrm>
          <a:prstGeom prst="roundRect">
            <a:avLst>
              <a:gd name="adj" fmla="val 21429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086600" y="2286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האתגר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תכנון הנסיעה שבור — ואף אחד לא מחזיק בנסיעה המלאה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269480" y="13716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6629400" y="22402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אתרים שמבקרים בהם</a:t>
            </a:r>
            <a:endParaRPr lang="en-US" sz="1200" dirty="0"/>
          </a:p>
          <a:p>
            <a:pPr rtl="1" algn="r"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לפני הזמנה אחת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629400" y="272491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8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מחקר Google / Expedia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11480" y="1280160"/>
            <a:ext cx="30632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8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0" y="1463040"/>
            <a:ext cx="475488" cy="475488"/>
          </a:xfrm>
          <a:prstGeom prst="ellipse">
            <a:avLst/>
          </a:prstGeom>
          <a:solidFill>
            <a:srgbClr val="E0F7FA"/>
          </a:solidFill>
          <a:ln w="12700">
            <a:solidFill>
              <a:srgbClr val="E0F7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1444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🗺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76072" y="14630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כלים מפוצלים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76072" y="1938528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· Booking.com · TripAdvisor · Instagram</a:t>
            </a:r>
            <a:endParaRPr lang="en-US" sz="1100" dirty="0"/>
          </a:p>
          <a:p>
            <a:pPr rtl="1" algn="r"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אף פלטפורמה לא מחברת את כל התמונה.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749040" y="1280160"/>
            <a:ext cx="30632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8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0" y="1463040"/>
            <a:ext cx="475488" cy="475488"/>
          </a:xfrm>
          <a:prstGeom prst="ellipse">
            <a:avLst/>
          </a:prstGeom>
          <a:solidFill>
            <a:srgbClr val="E0F7FA"/>
          </a:solidFill>
          <a:ln w="12700">
            <a:solidFill>
              <a:srgbClr val="E0F7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1444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🧠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913632" y="14630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אין בינת הקשר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913632" y="1938528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הפלטפורמות לא יודעות מי אתה, למה אתה נוסע,</a:t>
            </a:r>
            <a:endParaRPr lang="en-US" sz="1100" dirty="0"/>
          </a:p>
          <a:p>
            <a:pPr rtl="1" algn="r"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עם מי אתה יוצא, ומה באמת מעניין אותך.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3017520"/>
            <a:ext cx="30632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8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34640" y="3200400"/>
            <a:ext cx="475488" cy="475488"/>
          </a:xfrm>
          <a:prstGeom prst="ellipse">
            <a:avLst/>
          </a:prstGeom>
          <a:solidFill>
            <a:srgbClr val="E0F7FA"/>
          </a:solidFill>
          <a:ln w="12700">
            <a:solidFill>
              <a:srgbClr val="E0F7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34640" y="3182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⏱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76072" y="32004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פער גילוי — הזמנה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76072" y="3675888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ההשראה קורית ברשתות חברתיות.</a:t>
            </a:r>
            <a:endParaRPr lang="en-US" sz="1100" dirty="0"/>
          </a:p>
          <a:p>
            <a:pPr rtl="1" algn="r"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ההזמנה קורית במקום אחר. שום דבר לא נשמר.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749040" y="3017520"/>
            <a:ext cx="30632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8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72200" y="3200400"/>
            <a:ext cx="475488" cy="475488"/>
          </a:xfrm>
          <a:prstGeom prst="ellipse">
            <a:avLst/>
          </a:prstGeom>
          <a:solidFill>
            <a:srgbClr val="E0F7FA"/>
          </a:solidFill>
          <a:ln w="12700">
            <a:solidFill>
              <a:srgbClr val="E0F7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72200" y="3182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🏢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913632" y="32004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DMOs נשארים מאחור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913632" y="3675888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לוחות תיירות וערים חסרה תשתית דיגיטלית</a:t>
            </a:r>
            <a:endParaRPr lang="en-US" sz="1100" dirty="0"/>
          </a:p>
          <a:p>
            <a:pPr rtl="1" algn="r"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חכמה כדי להתחרות בעידן האלגוריתמי.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11480" y="4617720"/>
            <a:ext cx="8321040" cy="301752"/>
          </a:xfrm>
          <a:prstGeom prst="roundRect">
            <a:avLst>
              <a:gd name="adj" fmla="val 18182"/>
            </a:avLst>
          </a:prstGeom>
          <a:solidFill>
            <a:srgbClr val="E0F7F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4645152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תעשיית התיירות מייצרת $11.6 טריליון בשנה (WTTC 2025) — אבל חוויית המטייל עדיין מפוצלת לחלוטין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086600" y="228600"/>
            <a:ext cx="1645920" cy="256032"/>
          </a:xfrm>
          <a:prstGeom prst="roundRect">
            <a:avLst>
              <a:gd name="adj" fmla="val 21429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086600" y="2286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הזדמנות שוק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תעשייה של $11.6 טריליון — הפלח הדיגיטלי צומח המהיר ביותר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1280160"/>
            <a:ext cx="274320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280160"/>
            <a:ext cx="2743200" cy="2011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55448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כלכלת תיירות עולמית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938528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$11.6T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548640" y="267004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WTTC 2025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291693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$16.5T עד 2035 · CAGR ~3.5%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323697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הקשר כלכלי — לא ישירות נגיש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319272" y="1280160"/>
            <a:ext cx="274320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19272" y="1280160"/>
            <a:ext cx="2743200" cy="201168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56432" y="155448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הזמנות נסיעות מקוונות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10712" y="1938528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$650B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3456432" y="267004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Statista 2025 (אומדן)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56432" y="291693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$1T+ עד 2030 · CAGR ~9%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456432" y="323697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מקור: Grand View Research / Statista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227064" y="1280160"/>
            <a:ext cx="274320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27064" y="1280160"/>
            <a:ext cx="2743200" cy="201168"/>
          </a:xfrm>
          <a:prstGeom prst="rect">
            <a:avLst/>
          </a:prstGeom>
          <a:solidFill>
            <a:srgbClr val="0D4F3F"/>
          </a:solidFill>
          <a:ln w="12700">
            <a:solidFill>
              <a:srgbClr val="0D4F3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64224" y="155448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0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חוויות (ניתנות להזמנה)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18504" y="1938528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0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~$100B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6364224" y="267004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37% מ-$271B הכולל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364224" y="291693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0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$160B+ דיגיטלי עד 2030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364224" y="323697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Phocuswright: $271B סה"כ; ~37% דיגיטלי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11480" y="3749040"/>
            <a:ext cx="4114800" cy="1051560"/>
          </a:xfrm>
          <a:prstGeom prst="roundRect">
            <a:avLst>
              <a:gd name="adj" fmla="val 10435"/>
            </a:avLst>
          </a:prstGeom>
          <a:solidFill>
            <a:srgbClr val="E0F7F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382219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ו-White Label (הצמיחה המהירה ביותר)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2920" y="4160520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Expedia B2B +21% ב-2024 (30% מהכנסות). תקציבי DMO דיגיטלי גדלים ב-~12%/שנה.</a:t>
            </a:r>
            <a:endParaRPr lang="en-US" sz="1000" dirty="0"/>
          </a:p>
          <a:p>
            <a:pPr rtl="1" algn="r"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ערוצי SaaS החוזר של ViaNova מכוונים לפלח זה ראשון.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17720" y="3749040"/>
            <a:ext cx="41148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382219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שוק כניסה: אירופה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709160" y="4160520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€347 מיליארד הזמנות (2024) → €453 מיליארד עד 2030 (Phocuswright).</a:t>
            </a:r>
            <a:endParaRPr lang="en-US" sz="1000" dirty="0"/>
          </a:p>
          <a:p>
            <a:pPr rtl="1" algn="r"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צפיפות DMO גבוהה, שוק רב-לשוני — אידיאלי לפריסת Destination Hub.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086600" y="228600"/>
            <a:ext cx="1645920" cy="256032"/>
          </a:xfrm>
          <a:prstGeom prst="roundRect">
            <a:avLst>
              <a:gd name="adj" fmla="val 21429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086600" y="2286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למה עכשיו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ארבע כוחות מתכנסים — למה הרגע הנכון הוא עכשיו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11480" y="1371600"/>
            <a:ext cx="4160520" cy="1508760"/>
          </a:xfrm>
          <a:prstGeom prst="roundRect">
            <a:avLst>
              <a:gd name="adj" fmla="val 7273"/>
            </a:avLst>
          </a:prstGeom>
          <a:solidFill>
            <a:srgbClr val="0E2040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22192" y="15361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12648" y="153619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הבשיל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12648" y="1965960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GPT-4, Claude, Gemini מספקים הבנת הקשר מהימנה בקנה מידה.</a:t>
            </a:r>
            <a:endParaRPr lang="en-US" sz="1100" dirty="0"/>
          </a:p>
          <a:p>
            <a:pPr rtl="1" algn="r" indent="0" marL="0">
              <a:buNone/>
            </a:pPr>
            <a:r>
              <a:rPr lang="en-US" sz="11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התאמה אישית ברמת 1:1 אפשרית לראשונה.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00600" y="1371600"/>
            <a:ext cx="4160520" cy="1508760"/>
          </a:xfrm>
          <a:prstGeom prst="roundRect">
            <a:avLst>
              <a:gd name="adj" fmla="val 7273"/>
            </a:avLst>
          </a:prstGeom>
          <a:solidFill>
            <a:srgbClr val="0E2040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11312" y="15361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001768" y="153619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GeoAI נולד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01768" y="1965960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מרחבי (Esri, OSM, Google Maps Platform) מתכנס עם LLMs.</a:t>
            </a:r>
            <a:endParaRPr lang="en-US" sz="1100" dirty="0"/>
          </a:p>
          <a:p>
            <a:pPr rtl="1" algn="r" indent="0" marL="0">
              <a:buNone/>
            </a:pPr>
            <a:r>
              <a:rPr lang="en-US" sz="11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ViaNova ממוצבת בנקודת ההצטלבות — לפני שהענקיות זזות.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3063240"/>
            <a:ext cx="4160520" cy="1508760"/>
          </a:xfrm>
          <a:prstGeom prst="roundRect">
            <a:avLst>
              <a:gd name="adj" fmla="val 7273"/>
            </a:avLst>
          </a:prstGeom>
          <a:solidFill>
            <a:srgbClr val="0E2040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22192" y="322783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12648" y="322783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התיירות בשיא היסטורי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12648" y="3657600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1.52 מיליארד כניסות תיירים בינלאומיות ב-2025 (+4% YoY).</a:t>
            </a:r>
            <a:endParaRPr lang="en-US" sz="1100" dirty="0"/>
          </a:p>
          <a:p>
            <a:pPr rtl="1" algn="r" indent="0" marL="0">
              <a:buNone/>
            </a:pPr>
            <a:r>
              <a:rPr lang="en-US" sz="11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UNWTO צופה 1.76 מיליארד עד 2030.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3063240"/>
            <a:ext cx="4160520" cy="1508760"/>
          </a:xfrm>
          <a:prstGeom prst="roundRect">
            <a:avLst>
              <a:gd name="adj" fmla="val 7273"/>
            </a:avLst>
          </a:prstGeom>
          <a:solidFill>
            <a:srgbClr val="0E2040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11312" y="322783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001768" y="322783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הציפיות השתנו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001768" y="3657600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אתרים לפני הזמנה אחת (Google / Expedia).</a:t>
            </a:r>
            <a:endParaRPr lang="en-US" sz="1100" dirty="0"/>
          </a:p>
          <a:p>
            <a:pPr rtl="1" algn="r" indent="0" marL="0">
              <a:buNone/>
            </a:pPr>
            <a:r>
              <a:rPr lang="en-US" sz="11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המטיילים דורשים פרסונליזציה ברמת Netflix — ולא מקבלים אותה.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086600" y="228600"/>
            <a:ext cx="1645920" cy="256032"/>
          </a:xfrm>
          <a:prstGeom prst="roundRect">
            <a:avLst>
              <a:gd name="adj" fmla="val 21429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086600" y="2286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הפתרון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ViaNova: פלטפורמה אחת מאוחדת, ארבע שכבות חכמות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0" y="1325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ViaNova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206240" y="1755648"/>
            <a:ext cx="731520" cy="2926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257800" y="1691640"/>
            <a:ext cx="347472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67928" y="1691640"/>
            <a:ext cx="164592" cy="7132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49240" y="174650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פלטפורמת חוויות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349240" y="20391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גילוי, פרסונליזציה,</a:t>
            </a:r>
            <a:endParaRPr lang="en-US" sz="1000" dirty="0"/>
          </a:p>
          <a:p>
            <a:pPr rtl="1" algn="r"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מחזור חיי נסיעה, פרופילים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937760" y="1984248"/>
            <a:ext cx="320040" cy="7315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1691640"/>
            <a:ext cx="347472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74650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מטיילים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20391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בינת נסיעה מותאמת אישית לפי הקשר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257800" y="2514600"/>
            <a:ext cx="347472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67928" y="2514600"/>
            <a:ext cx="164592" cy="713232"/>
          </a:xfrm>
          <a:prstGeom prst="rect">
            <a:avLst/>
          </a:prstGeom>
          <a:solidFill>
            <a:srgbClr val="1A5C7A"/>
          </a:solidFill>
          <a:ln w="12700">
            <a:solidFill>
              <a:srgbClr val="1A5C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49240" y="256946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A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פלטפורמת עסקים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49240" y="28620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Label, DMO Hub,</a:t>
            </a:r>
            <a:endParaRPr lang="en-US" sz="1000" dirty="0"/>
          </a:p>
          <a:p>
            <a:pPr rtl="1" algn="r"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Affiliate ו-Marketplace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37760" y="2807208"/>
            <a:ext cx="320040" cy="73152"/>
          </a:xfrm>
          <a:prstGeom prst="rect">
            <a:avLst/>
          </a:prstGeom>
          <a:solidFill>
            <a:srgbClr val="1A5C7A"/>
          </a:solidFill>
          <a:ln w="12700">
            <a:solidFill>
              <a:srgbClr val="1A5C7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2514600"/>
            <a:ext cx="347472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256946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עסקים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28620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label ו-API: DMOs, סוכנויות, פלטפורמות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257800" y="3337560"/>
            <a:ext cx="347472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567928" y="3337560"/>
            <a:ext cx="164592" cy="713232"/>
          </a:xfrm>
          <a:prstGeom prst="rect">
            <a:avLst/>
          </a:prstGeom>
          <a:solidFill>
            <a:srgbClr val="0D4F3F"/>
          </a:solidFill>
          <a:ln w="12700">
            <a:solidFill>
              <a:srgbClr val="0D4F3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49240" y="339242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0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פלטפורמת בינה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49240" y="36850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מנוע הקשר, GeoAI,</a:t>
            </a:r>
            <a:endParaRPr lang="en-US" sz="1000" dirty="0"/>
          </a:p>
          <a:p>
            <a:pPr rtl="1" algn="r"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שילוב Claude / OpenAI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937760" y="3630168"/>
            <a:ext cx="320040" cy="73152"/>
          </a:xfrm>
          <a:prstGeom prst="rect">
            <a:avLst/>
          </a:prstGeom>
          <a:solidFill>
            <a:srgbClr val="0D4F3F"/>
          </a:solidFill>
          <a:ln w="12700">
            <a:solidFill>
              <a:srgbClr val="0D4F3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1480" y="3337560"/>
            <a:ext cx="347472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339242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יעדים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02920" y="36850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ניהול תיירות עירוני חכם ואנליטיקה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257800" y="4160520"/>
            <a:ext cx="347472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567928" y="4160520"/>
            <a:ext cx="164592" cy="713232"/>
          </a:xfrm>
          <a:prstGeom prst="rect">
            <a:avLst/>
          </a:prstGeom>
          <a:solidFill>
            <a:srgbClr val="3D2C6E"/>
          </a:solidFill>
          <a:ln w="12700">
            <a:solidFill>
              <a:srgbClr val="3D2C6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49240" y="421538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3D2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פלטפורמת תפעול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349240" y="45079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GGILS, נתונים, אבטחה,</a:t>
            </a:r>
            <a:endParaRPr lang="en-US" sz="1000" dirty="0"/>
          </a:p>
          <a:p>
            <a:pPr rtl="1" algn="r"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תשתית Multi-tenant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937760" y="4453128"/>
            <a:ext cx="320040" cy="73152"/>
          </a:xfrm>
          <a:prstGeom prst="rect">
            <a:avLst/>
          </a:prstGeom>
          <a:solidFill>
            <a:srgbClr val="3D2C6E"/>
          </a:solidFill>
          <a:ln w="12700">
            <a:solidFill>
              <a:srgbClr val="3D2C6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11480" y="4160520"/>
            <a:ext cx="347472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421538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מפתחים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02920" y="45079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GeoAI ו-Context APIs לבוני travel-tech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086600" y="228600"/>
            <a:ext cx="1645920" cy="256032"/>
          </a:xfrm>
          <a:prstGeom prst="roundRect">
            <a:avLst>
              <a:gd name="adj" fmla="val 21429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086600" y="2286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בידול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ארבע יכולות שאף מתחרה לא משלב היום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1298448"/>
            <a:ext cx="416052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95344" y="1499616"/>
            <a:ext cx="475488" cy="475488"/>
          </a:xfrm>
          <a:prstGeom prst="ellipse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95344" y="14996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12648" y="148132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מנוע הקשר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12648" y="2048256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מבין את ההקשר המלא של המטייל:</a:t>
            </a:r>
            <a:endParaRPr lang="en-US" sz="1100" dirty="0"/>
          </a:p>
          <a:p>
            <a:pPr rtl="1" algn="r"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מי, איפה, מתי, למה, תקציב, הרכב, היסטוריה.</a:t>
            </a:r>
            <a:endParaRPr lang="en-US" sz="1100" dirty="0"/>
          </a:p>
          <a:p>
            <a:pPr rtl="1" algn="r"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מתאים אישית כל אינטראקציה בזמן אמת.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00600" y="1298448"/>
            <a:ext cx="416052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84464" y="1499616"/>
            <a:ext cx="475488" cy="475488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84464" y="14996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01768" y="148132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בינת GeoAI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01768" y="2048256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משלב AI עם גאוגרפיה מרחבית (GeoAI).</a:t>
            </a:r>
            <a:endParaRPr lang="en-US" sz="1100" dirty="0"/>
          </a:p>
          <a:p>
            <a:pPr rtl="1" algn="r"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מבין קרבה, הליכה ברגל, תרבות, אבנים חבויות</a:t>
            </a:r>
            <a:endParaRPr lang="en-US" sz="1100" dirty="0"/>
          </a:p>
          <a:p>
            <a:pPr rtl="1" algn="r"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לא רק קואורדינטות.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3172968"/>
            <a:ext cx="416052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95344" y="3374136"/>
            <a:ext cx="475488" cy="475488"/>
          </a:xfrm>
          <a:prstGeom prst="ellipse">
            <a:avLst/>
          </a:prstGeom>
          <a:solidFill>
            <a:srgbClr val="0D4F3F"/>
          </a:solidFill>
          <a:ln w="12700">
            <a:solidFill>
              <a:srgbClr val="0D4F3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95344" y="33741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2648" y="335584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0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GGILS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12648" y="3922776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שכבת בינה גאוגרפית גלובלית.</a:t>
            </a:r>
            <a:endParaRPr lang="en-US" sz="1100" dirty="0"/>
          </a:p>
          <a:p>
            <a:pPr rtl="1" algn="r"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מאמת ומעשיר נתוני מיקום מ-OSM,</a:t>
            </a:r>
            <a:endParaRPr lang="en-US" sz="1100" dirty="0"/>
          </a:p>
          <a:p>
            <a:pPr rtl="1" algn="r"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Wikidata, UNESCO, Wikimedia.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00600" y="3172968"/>
            <a:ext cx="416052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84464" y="3374136"/>
            <a:ext cx="475488" cy="475488"/>
          </a:xfrm>
          <a:prstGeom prst="ellipse">
            <a:avLst/>
          </a:prstGeom>
          <a:solidFill>
            <a:srgbClr val="3D2C6E"/>
          </a:solidFill>
          <a:ln w="12700">
            <a:solidFill>
              <a:srgbClr val="3D2C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84464" y="33741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001768" y="335584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3D2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מחזור חיי נסיעה מלא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001768" y="3922776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מכסה את 4 השלבים: טרום-תכנון → תכנון</a:t>
            </a:r>
            <a:endParaRPr lang="en-US" sz="1100" dirty="0"/>
          </a:p>
          <a:p>
            <a:pPr rtl="1" algn="r"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בזמן אמת (Live) → Vault (זיכרונות).</a:t>
            </a:r>
            <a:endParaRPr lang="en-US" sz="1100" dirty="0"/>
          </a:p>
          <a:p>
            <a:pPr rtl="1" algn="r" indent="0" marL="0">
              <a:buNone/>
            </a:pPr>
            <a:r>
              <a:rPr lang="en-US" sz="11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אף פלטפורמה לא מכסה את כל המסע.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11480" y="473659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מופעלת על-ידי Claude, OpenAI, OSM, Google Places, Amadeus ו-Ticketmaster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8FC"/>
          </a:solidFill>
          <a:ln w="12700">
            <a:solidFill>
              <a:srgbClr val="F4F8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086600" y="228600"/>
            <a:ext cx="1645920" cy="256032"/>
          </a:xfrm>
          <a:prstGeom prst="roundRect">
            <a:avLst>
              <a:gd name="adj" fmla="val 21429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086600" y="2286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המוצר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מחזור חיי הנסיעה המלא — מהשראה ועד זיכרון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1261872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3D2C6E"/>
          </a:solidFill>
          <a:ln w="12700">
            <a:solidFill>
              <a:srgbClr val="3D2C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618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58191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זיכרון ושימוש חוזר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331720" y="1499616"/>
            <a:ext cx="182880" cy="54864"/>
          </a:xfrm>
          <a:prstGeom prst="rect">
            <a:avLst/>
          </a:prstGeom>
          <a:solidFill>
            <a:srgbClr val="8EA6BE"/>
          </a:solidFill>
          <a:ln w="12700">
            <a:solidFill>
              <a:srgbClr val="8EA6B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1920240"/>
            <a:ext cx="1920240" cy="28803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57400" y="2029968"/>
            <a:ext cx="109728" cy="109728"/>
          </a:xfrm>
          <a:prstGeom prst="ellipse">
            <a:avLst/>
          </a:prstGeom>
          <a:solidFill>
            <a:srgbClr val="3D2C6E"/>
          </a:solidFill>
          <a:ln w="12700">
            <a:solidFill>
              <a:srgbClr val="3D2C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" y="198424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ארכיון נסיעות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057400" y="2560320"/>
            <a:ext cx="109728" cy="109728"/>
          </a:xfrm>
          <a:prstGeom prst="ellipse">
            <a:avLst/>
          </a:prstGeom>
          <a:solidFill>
            <a:srgbClr val="3D2C6E"/>
          </a:solidFill>
          <a:ln w="12700">
            <a:solidFill>
              <a:srgbClr val="3D2C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" y="251460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זיכרונות מתמונות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057400" y="3090672"/>
            <a:ext cx="109728" cy="109728"/>
          </a:xfrm>
          <a:prstGeom prst="ellipse">
            <a:avLst/>
          </a:prstGeom>
          <a:solidFill>
            <a:srgbClr val="3D2C6E"/>
          </a:solidFill>
          <a:ln w="12700">
            <a:solidFill>
              <a:srgbClr val="3D2C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" y="304495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יומן חוויות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057400" y="3621024"/>
            <a:ext cx="109728" cy="109728"/>
          </a:xfrm>
          <a:prstGeom prst="ellipse">
            <a:avLst/>
          </a:prstGeom>
          <a:solidFill>
            <a:srgbClr val="3D2C6E"/>
          </a:solidFill>
          <a:ln w="12700">
            <a:solidFill>
              <a:srgbClr val="3D2C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" y="3575304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שימוש חוזר כתבנית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057400" y="4151376"/>
            <a:ext cx="109728" cy="109728"/>
          </a:xfrm>
          <a:prstGeom prst="ellipse">
            <a:avLst/>
          </a:prstGeom>
          <a:solidFill>
            <a:srgbClr val="3D2C6E"/>
          </a:solidFill>
          <a:ln w="12700">
            <a:solidFill>
              <a:srgbClr val="3D2C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6072" y="4105656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שיתוף מסלול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514600" y="1261872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0D4F3F"/>
          </a:solidFill>
          <a:ln w="12700">
            <a:solidFill>
              <a:srgbClr val="0D4F3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14600" y="12618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בזמן אמת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514600" y="158191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ניווט חי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434840" y="1499616"/>
            <a:ext cx="182880" cy="54864"/>
          </a:xfrm>
          <a:prstGeom prst="rect">
            <a:avLst/>
          </a:prstGeom>
          <a:solidFill>
            <a:srgbClr val="8EA6BE"/>
          </a:solidFill>
          <a:ln w="12700">
            <a:solidFill>
              <a:srgbClr val="8EA6B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14600" y="1920240"/>
            <a:ext cx="1920240" cy="28803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60520" y="2029968"/>
            <a:ext cx="109728" cy="109728"/>
          </a:xfrm>
          <a:prstGeom prst="ellipse">
            <a:avLst/>
          </a:prstGeom>
          <a:solidFill>
            <a:srgbClr val="0D4F3F"/>
          </a:solidFill>
          <a:ln w="12700">
            <a:solidFill>
              <a:srgbClr val="0D4F3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79192" y="198424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מפה לפי הקשר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160520" y="2560320"/>
            <a:ext cx="109728" cy="109728"/>
          </a:xfrm>
          <a:prstGeom prst="ellipse">
            <a:avLst/>
          </a:prstGeom>
          <a:solidFill>
            <a:srgbClr val="0D4F3F"/>
          </a:solidFill>
          <a:ln w="12700">
            <a:solidFill>
              <a:srgbClr val="0D4F3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679192" y="251460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ניווט חי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160520" y="3090672"/>
            <a:ext cx="109728" cy="109728"/>
          </a:xfrm>
          <a:prstGeom prst="ellipse">
            <a:avLst/>
          </a:prstGeom>
          <a:solidFill>
            <a:srgbClr val="0D4F3F"/>
          </a:solidFill>
          <a:ln w="12700">
            <a:solidFill>
              <a:srgbClr val="0D4F3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79192" y="304495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התראות קרבה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160520" y="3621024"/>
            <a:ext cx="109728" cy="109728"/>
          </a:xfrm>
          <a:prstGeom prst="ellipse">
            <a:avLst/>
          </a:prstGeom>
          <a:solidFill>
            <a:srgbClr val="0D4F3F"/>
          </a:solidFill>
          <a:ln w="12700">
            <a:solidFill>
              <a:srgbClr val="0D4F3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79192" y="3575304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גילוי AR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160520" y="4151376"/>
            <a:ext cx="109728" cy="109728"/>
          </a:xfrm>
          <a:prstGeom prst="ellipse">
            <a:avLst/>
          </a:prstGeom>
          <a:solidFill>
            <a:srgbClr val="0D4F3F"/>
          </a:solidFill>
          <a:ln w="12700">
            <a:solidFill>
              <a:srgbClr val="0D4F3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679192" y="4105656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תובנות בזמן אמת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617720" y="1261872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17720" y="12618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תכנון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617720" y="158191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בנייה וארגון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537960" y="1499616"/>
            <a:ext cx="182880" cy="54864"/>
          </a:xfrm>
          <a:prstGeom prst="rect">
            <a:avLst/>
          </a:prstGeom>
          <a:solidFill>
            <a:srgbClr val="8EA6BE"/>
          </a:solidFill>
          <a:ln w="12700">
            <a:solidFill>
              <a:srgbClr val="8EA6B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17720" y="1920240"/>
            <a:ext cx="1920240" cy="28803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63640" y="2029968"/>
            <a:ext cx="109728" cy="109728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82312" y="198424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בונה מסלולים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263640" y="2560320"/>
            <a:ext cx="109728" cy="109728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82312" y="251460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לוח זמנים חכם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263640" y="3090672"/>
            <a:ext cx="109728" cy="109728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82312" y="304495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סביבת עבודה שיתופית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263640" y="3621024"/>
            <a:ext cx="109728" cy="109728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82312" y="3575304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מתכנן תקציב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263640" y="4151376"/>
            <a:ext cx="109728" cy="109728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82312" y="4105656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שילוב הזמנות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720840" y="1261872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720840" y="12618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טרום-תכנון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720840" y="1581912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גילוי והשראה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720840" y="1920240"/>
            <a:ext cx="1920240" cy="28803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366760" y="2029968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885432" y="198424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Explore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8366760" y="2560320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885432" y="251460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מקומות ואירועים מובילים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8366760" y="3090672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885432" y="304495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פרופילי חוויה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8366760" y="3621024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885432" y="3575304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המלצות GeoAI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8366760" y="4151376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885432" y="4105656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יעדים דומים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086600" y="228600"/>
            <a:ext cx="1645920" cy="256032"/>
          </a:xfrm>
          <a:prstGeom prst="roundRect">
            <a:avLst>
              <a:gd name="adj" fmla="val 21429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086600" y="2286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מודל עסקי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שמונה זרמי הכנסה על פני B2C, B2B ושכבת פלטפורמה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1993392" cy="1664208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325880"/>
            <a:ext cx="19933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563624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פרימיום B2C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399032" y="1901952"/>
            <a:ext cx="914400" cy="219456"/>
          </a:xfrm>
          <a:prstGeom prst="roundRect">
            <a:avLst>
              <a:gd name="adj" fmla="val 25000"/>
            </a:avLst>
          </a:prstGeom>
          <a:solidFill>
            <a:srgbClr val="E0F7F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99032" y="19019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מנוי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21208" y="221284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$4–6/חודש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21208" y="2496312"/>
            <a:ext cx="177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תכנון נסיעות AI מתקדם. השוואה: TripIt $4/חו׳ · Roadtrippers $2.50/חו׳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587752" y="1325880"/>
            <a:ext cx="1993392" cy="1664208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87752" y="1325880"/>
            <a:ext cx="1993392" cy="16459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97480" y="1563624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Label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575304" y="1901952"/>
            <a:ext cx="914400" cy="219456"/>
          </a:xfrm>
          <a:prstGeom prst="roundRect">
            <a:avLst>
              <a:gd name="adj" fmla="val 25000"/>
            </a:avLst>
          </a:prstGeom>
          <a:solidFill>
            <a:srgbClr val="E0F7F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75304" y="19019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רישיון SaaS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697480" y="221284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$1,800–5,000/חודש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97480" y="2496312"/>
            <a:ext cx="177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הפלטפורמה המלאה ל-DMOs וחברות תיירות. מחזור מכירה 6–12 חודשים.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764024" y="1325880"/>
            <a:ext cx="1993392" cy="1664208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64024" y="1325880"/>
            <a:ext cx="1993392" cy="164592"/>
          </a:xfrm>
          <a:prstGeom prst="rect">
            <a:avLst/>
          </a:prstGeom>
          <a:solidFill>
            <a:srgbClr val="0D4F3F"/>
          </a:solidFill>
          <a:ln w="12700">
            <a:solidFill>
              <a:srgbClr val="0D4F3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73752" y="1563624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0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751576" y="1901952"/>
            <a:ext cx="914400" cy="219456"/>
          </a:xfrm>
          <a:prstGeom prst="roundRect">
            <a:avLst>
              <a:gd name="adj" fmla="val 25000"/>
            </a:avLst>
          </a:prstGeom>
          <a:solidFill>
            <a:srgbClr val="E0F7F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51576" y="19019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עסקאות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73752" y="221284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עמלה 8–15%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73752" y="2496312"/>
            <a:ext cx="177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הזמנת חוויות ופעילויות. שוק דיגיטלי ניתן להזמנה: ~$100B (Phocuswright).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940296" y="1325880"/>
            <a:ext cx="1993392" cy="1664208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40296" y="1325880"/>
            <a:ext cx="1993392" cy="164592"/>
          </a:xfrm>
          <a:prstGeom prst="rect">
            <a:avLst/>
          </a:prstGeom>
          <a:solidFill>
            <a:srgbClr val="3D2C6E"/>
          </a:solidFill>
          <a:ln w="12700">
            <a:solidFill>
              <a:srgbClr val="3D2C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50024" y="1563624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3D2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Affiliate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927848" y="1901952"/>
            <a:ext cx="914400" cy="219456"/>
          </a:xfrm>
          <a:prstGeom prst="roundRect">
            <a:avLst>
              <a:gd name="adj" fmla="val 25000"/>
            </a:avLst>
          </a:prstGeom>
          <a:solidFill>
            <a:srgbClr val="E0F7F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27848" y="19019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שותפויות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050024" y="221284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 / שיתוף הכנסות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050024" y="2496312"/>
            <a:ext cx="177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טיסות, מלונות ושירותים דרך Amadeus, Booking.com, Expedia.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11480" y="3154680"/>
            <a:ext cx="1993392" cy="1664208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11480" y="3154680"/>
            <a:ext cx="1993392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1208" y="3392424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ונתונים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399032" y="3730752"/>
            <a:ext cx="914400" cy="219456"/>
          </a:xfrm>
          <a:prstGeom prst="roundRect">
            <a:avLst>
              <a:gd name="adj" fmla="val 25000"/>
            </a:avLst>
          </a:prstGeom>
          <a:solidFill>
            <a:srgbClr val="E0F7F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399032" y="37307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מפתחים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21208" y="404164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תשלום לפי שימוש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21208" y="4325112"/>
            <a:ext cx="177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GeoAI, Context Engine ו-GGILS APIs למפתחי travel-tech.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587752" y="3154680"/>
            <a:ext cx="1993392" cy="1664208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587752" y="3154680"/>
            <a:ext cx="1993392" cy="16459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697480" y="3392424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575304" y="3730752"/>
            <a:ext cx="914400" cy="219456"/>
          </a:xfrm>
          <a:prstGeom prst="roundRect">
            <a:avLst>
              <a:gd name="adj" fmla="val 25000"/>
            </a:avLst>
          </a:prstGeom>
          <a:solidFill>
            <a:srgbClr val="E0F7F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575304" y="37307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697480" y="404164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חוזה מותאם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2697480" y="4325112"/>
            <a:ext cx="177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בינה ממותגת לקבוצות תיירות גדולות. חוזה גבוה, LTV גבוה.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764024" y="3154680"/>
            <a:ext cx="1993392" cy="1664208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764024" y="3154680"/>
            <a:ext cx="1993392" cy="164592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73752" y="3392424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 Hub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751576" y="3730752"/>
            <a:ext cx="914400" cy="219456"/>
          </a:xfrm>
          <a:prstGeom prst="roundRect">
            <a:avLst>
              <a:gd name="adj" fmla="val 25000"/>
            </a:avLst>
          </a:prstGeom>
          <a:solidFill>
            <a:srgbClr val="E0F7F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751576" y="37307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עיר / ממשל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873752" y="404164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$4,000–15,000/חודש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873752" y="4325112"/>
            <a:ext cx="177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פלטפורמת ניהול יעד חכמה לערים ואזורים.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940296" y="3154680"/>
            <a:ext cx="1993392" cy="1664208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940296" y="3154680"/>
            <a:ext cx="1993392" cy="164592"/>
          </a:xfrm>
          <a:prstGeom prst="rect">
            <a:avLst/>
          </a:prstGeom>
          <a:solidFill>
            <a:srgbClr val="8EA6BE"/>
          </a:solidFill>
          <a:ln w="12700">
            <a:solidFill>
              <a:srgbClr val="8EA6B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050024" y="3392424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שירותים מקצועיים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7927848" y="3730752"/>
            <a:ext cx="914400" cy="219456"/>
          </a:xfrm>
          <a:prstGeom prst="roundRect">
            <a:avLst>
              <a:gd name="adj" fmla="val 25000"/>
            </a:avLst>
          </a:prstGeom>
          <a:solidFill>
            <a:srgbClr val="E0F7F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927848" y="37307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ייעוץ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7050024" y="404164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לפי פרויקט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7050024" y="4325112"/>
            <a:ext cx="177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הטמעה, הכשרה, אינטגרציות מותאמות ל-White Label ו-Enterprise.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086600" y="228600"/>
            <a:ext cx="1645920" cy="256032"/>
          </a:xfrm>
          <a:prstGeom prst="roundRect">
            <a:avLst>
              <a:gd name="adj" fmla="val 21429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086600" y="2286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גודל שוק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/ SAM / SOM — גידול ריאלי בשכבת תכנון הנסיעות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1298448"/>
            <a:ext cx="8321040" cy="3611880"/>
          </a:xfrm>
          <a:prstGeom prst="roundRect">
            <a:avLst>
              <a:gd name="adj" fmla="val 5063"/>
            </a:avLst>
          </a:prstGeom>
          <a:solidFill>
            <a:srgbClr val="EBF5FA"/>
          </a:solidFill>
          <a:ln w="12700">
            <a:solidFill>
              <a:srgbClr val="C0DA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09560" y="138988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178308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כלכלת תיירות עולמית — הקשר כלכלי, לא ישירות נגיש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200400" y="138988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$11.6T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200400" y="19933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WTTC 2025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221284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1.52 מיליארד מטיילים · $1.6T הזמנות · 366 מיליון משרות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85800" y="2514600"/>
            <a:ext cx="7772400" cy="2121408"/>
          </a:xfrm>
          <a:prstGeom prst="roundRect">
            <a:avLst>
              <a:gd name="adj" fmla="val 6466"/>
            </a:avLst>
          </a:prstGeom>
          <a:solidFill>
            <a:srgbClr val="D5EEF8"/>
          </a:solidFill>
          <a:ln w="12700">
            <a:solidFill>
              <a:srgbClr val="A0C8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35240" y="26060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8680" y="294436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חוויות ניתנות להזמנה דיגיטלית + כלי תכנון + SaaS ל-DMO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291840" y="26060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20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~$200B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3291840" y="312724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חוויות דיגיטליות ~$100B + כלי תכנון + SaaS ל-DMO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68680" y="33375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אירופה כשוק עדיפות · מטיילים דיגיטליים · DMOs וחברות travel-tech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005840" y="3767328"/>
            <a:ext cx="7132320" cy="914400"/>
          </a:xfrm>
          <a:prstGeom prst="roundRect">
            <a:avLst>
              <a:gd name="adj" fmla="val 12000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0" y="385876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88720" y="38587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יעד ריאלי שנה 1–5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00400" y="382219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$5–20M ARR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188720" y="4142232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60–120K משתמשי פרימיום · 20–50 לקוחות White Label · 3–10 Destination Hubs · CAC: $50–150 לפרימיום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086600" y="228600"/>
            <a:ext cx="1645920" cy="256032"/>
          </a:xfrm>
          <a:prstGeom prst="roundRect">
            <a:avLst>
              <a:gd name="adj" fmla="val 21429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086600" y="2286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תחזית פיננסית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שנות פעילות — ההנחות שקופות</a:t>
            </a:r>
            <a:endParaRPr lang="en-US" sz="26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11480" y="1280160"/>
          <a:ext cx="51206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669280" y="1280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הנחות מפתח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669280" y="1737360"/>
            <a:ext cx="310896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13648" y="1737360"/>
            <a:ext cx="164592" cy="5669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760720" y="177393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מימון להגעה ל-MVP מסחרי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760720" y="201168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$2.5–3.5M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669280" y="2395728"/>
            <a:ext cx="310896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613648" y="2395728"/>
            <a:ext cx="164592" cy="5669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760720" y="243230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משוער (משתמש פרימיום)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760720" y="267004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$50–150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360920" y="267004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8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benchmark: אפליקציות נסיעות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5669280" y="3054096"/>
            <a:ext cx="310896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613648" y="3054096"/>
            <a:ext cx="164592" cy="5669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760720" y="30906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ב-$5/חו׳ × 18 חו׳ ממוצע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760720" y="332841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~$90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360920" y="332841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8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יעד LTV:CAC &gt;2.5x בשנה 3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5669280" y="3712464"/>
            <a:ext cx="310896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613648" y="3712464"/>
            <a:ext cx="164592" cy="5669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760720" y="374904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בסיס בשנה 5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760720" y="398678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~$16M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7360920" y="398678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8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מתוקן ל-$20M — שמרני יותר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5669280" y="4370832"/>
            <a:ext cx="310896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613648" y="4370832"/>
            <a:ext cx="164592" cy="566928"/>
          </a:xfrm>
          <a:prstGeom prst="rect">
            <a:avLst/>
          </a:prstGeom>
          <a:solidFill>
            <a:srgbClr val="3D2C6E"/>
          </a:solidFill>
          <a:ln w="12700">
            <a:solidFill>
              <a:srgbClr val="3D2C6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760720" y="440740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שווי בשנה 5 (תרחיש בסיס)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5760720" y="464515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3D2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$60–90M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7360920" y="464515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8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מכפיל 7–8x ARR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411480" y="475488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התרחיש השמרני תוקן כלפי מטה כדי לשקף CAC ריאלי ושיעור המרה לפרימיום של 2–4% (benchmark בתחום).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086600" y="228600"/>
            <a:ext cx="1645920" cy="256032"/>
          </a:xfrm>
          <a:prstGeom prst="roundRect">
            <a:avLst>
              <a:gd name="adj" fmla="val 21429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086600" y="2286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תחרות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ViaNova מאכלסת שכבת בינה ייחודית — לא מנוע הזמנות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3035808"/>
            <a:ext cx="5120640" cy="0"/>
          </a:xfrm>
          <a:prstGeom prst="line">
            <a:avLst/>
          </a:prstGeom>
          <a:noFill/>
          <a:ln w="12700">
            <a:solidFill>
              <a:srgbClr val="C0CE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71800" y="1298448"/>
            <a:ext cx="0" cy="3474720"/>
          </a:xfrm>
          <a:prstGeom prst="line">
            <a:avLst/>
          </a:prstGeom>
          <a:noFill/>
          <a:ln w="12700">
            <a:solidFill>
              <a:srgbClr val="C0CE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31089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9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פרסונליזציה נמוכה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886200" y="31089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פרסונליזציה גבוהה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691640" y="451713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עסקאות בלבד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017520" y="13533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נסיעה מלאה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428293" y="2995574"/>
            <a:ext cx="219456" cy="219456"/>
          </a:xfrm>
          <a:prstGeom prst="ellipse">
            <a:avLst/>
          </a:prstGeom>
          <a:solidFill>
            <a:srgbClr val="C0CEDD"/>
          </a:solidFill>
          <a:ln w="12700">
            <a:solidFill>
              <a:srgbClr val="C0CE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66037" y="297728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Booking.com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069848" y="2648102"/>
            <a:ext cx="219456" cy="219456"/>
          </a:xfrm>
          <a:prstGeom prst="ellipse">
            <a:avLst/>
          </a:prstGeom>
          <a:solidFill>
            <a:srgbClr val="C0CEDD"/>
          </a:solidFill>
          <a:ln w="12700">
            <a:solidFill>
              <a:srgbClr val="C0CE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07592" y="262981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476549" y="2752344"/>
            <a:ext cx="219456" cy="219456"/>
          </a:xfrm>
          <a:prstGeom prst="ellipse">
            <a:avLst/>
          </a:prstGeom>
          <a:solidFill>
            <a:srgbClr val="C0CEDD"/>
          </a:solidFill>
          <a:ln w="12700">
            <a:solidFill>
              <a:srgbClr val="C0CE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14293" y="273405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Travel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223467" y="2231136"/>
            <a:ext cx="219456" cy="219456"/>
          </a:xfrm>
          <a:prstGeom prst="ellipse">
            <a:avLst/>
          </a:prstGeom>
          <a:solidFill>
            <a:srgbClr val="C0CEDD"/>
          </a:solidFill>
          <a:ln w="12700">
            <a:solidFill>
              <a:srgbClr val="C0CE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61211" y="22128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TripAdvisor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13816" y="3343046"/>
            <a:ext cx="219456" cy="219456"/>
          </a:xfrm>
          <a:prstGeom prst="ellipse">
            <a:avLst/>
          </a:prstGeom>
          <a:solidFill>
            <a:srgbClr val="C0CEDD"/>
          </a:solidFill>
          <a:ln w="12700">
            <a:solidFill>
              <a:srgbClr val="C0CE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332475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Navan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988613" y="2057400"/>
            <a:ext cx="219456" cy="219456"/>
          </a:xfrm>
          <a:prstGeom prst="ellipse">
            <a:avLst/>
          </a:prstGeom>
          <a:solidFill>
            <a:srgbClr val="C0CEDD"/>
          </a:solidFill>
          <a:ln w="12700">
            <a:solidFill>
              <a:srgbClr val="C0CE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26357" y="20391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Wanderlog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409237" y="1375258"/>
            <a:ext cx="402336" cy="40233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39005" y="139354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ViaNova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760720" y="1261872"/>
            <a:ext cx="3017520" cy="292608"/>
          </a:xfrm>
          <a:prstGeom prst="roundRect">
            <a:avLst>
              <a:gd name="adj" fmla="val 18750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79008" y="1298448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8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Google Trips נסגר 2019 — גם הם ניסו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760720" y="16459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למה ViaNova מנצחת בנישה שלה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503920" y="2029968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60720" y="1975104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רק פלטפורמה: טרום-תכנון→Live→Vault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503920" y="2505456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60720" y="2450592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מנוע הקשר: מי, למה, מתי, איך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8503920" y="2980944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60720" y="2926080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GeoAI: מרחבי מעבר לקואורדינטות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503920" y="3456432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60720" y="3401568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GGILS: שכבת נתונים גאוגרפית ייחודית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503920" y="3931920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60720" y="3877056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עובדת עם Google/Booking — לא נגדם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503920" y="4407408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760720" y="4352544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Label: שקוף עבור יעדים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086600" y="228600"/>
            <a:ext cx="1645920" cy="256032"/>
          </a:xfrm>
          <a:prstGeom prst="roundRect">
            <a:avLst>
              <a:gd name="adj" fmla="val 21429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086600" y="2286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כניסה לשוק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ראש גשר: מטיילים דיגיטליים באירופה · קנה מידה: B2B ויעדים גלובליים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1993392" cy="292608"/>
          </a:xfrm>
          <a:prstGeom prst="roundRect">
            <a:avLst>
              <a:gd name="adj" fmla="val 1875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25880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שלב 1 · שנה 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11480" y="1691640"/>
            <a:ext cx="1993392" cy="3154680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9496" y="176479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ראש גשר B2C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148840" y="2212848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2157984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פריסת Freemium למטיילים אירופאים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148840" y="2807208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" y="2752344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יעד: בני 25–40 דיגיטליים, 2+ נסיעות/שנה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148840" y="3401568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" y="3346704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רכישה: SEO, תוכן נסיעות, משפיענים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148840" y="3995928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" y="3941064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המרה לפרימיום: $4–6/חו׳ לפיצ׳רי AI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587752" y="1325880"/>
            <a:ext cx="1993392" cy="292608"/>
          </a:xfrm>
          <a:prstGeom prst="roundRect">
            <a:avLst>
              <a:gd name="adj" fmla="val 18750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87752" y="1325880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שלב 2 · שנה 1–2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587752" y="1691640"/>
            <a:ext cx="1993392" cy="3154680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15768" y="176479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Label B2B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25112" y="2212848"/>
            <a:ext cx="109728" cy="109728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52344" y="2157984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פנייה ל-DMOs ולוחות תיירות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325112" y="2807208"/>
            <a:ext cx="109728" cy="109728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52344" y="2752344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 Hub לערים ואזורים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325112" y="3401568"/>
            <a:ext cx="109728" cy="109728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52344" y="3346704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עסקאות White Label עם סוכנויות ו-OTAs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325112" y="3995928"/>
            <a:ext cx="109728" cy="109728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52344" y="3941064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$1,800–5,000/חו׳ · מחזור מכירה 6–12 חו׳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64024" y="1325880"/>
            <a:ext cx="1993392" cy="292608"/>
          </a:xfrm>
          <a:prstGeom prst="roundRect">
            <a:avLst>
              <a:gd name="adj" fmla="val 18750"/>
            </a:avLst>
          </a:prstGeom>
          <a:solidFill>
            <a:srgbClr val="0D4F3F"/>
          </a:solidFill>
          <a:ln w="12700">
            <a:solidFill>
              <a:srgbClr val="0D4F3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64024" y="1325880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שלב 3 · שנה 2–3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64024" y="1691640"/>
            <a:ext cx="1993392" cy="3154680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176479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0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ו-API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501384" y="2212848"/>
            <a:ext cx="109728" cy="109728"/>
          </a:xfrm>
          <a:prstGeom prst="ellipse">
            <a:avLst/>
          </a:prstGeom>
          <a:solidFill>
            <a:srgbClr val="0D4F3F"/>
          </a:solidFill>
          <a:ln w="12700">
            <a:solidFill>
              <a:srgbClr val="0D4F3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28616" y="2157984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הזמנת חוויות: ~$100B שוק דיגיטלי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501384" y="2807208"/>
            <a:ext cx="109728" cy="109728"/>
          </a:xfrm>
          <a:prstGeom prst="ellipse">
            <a:avLst/>
          </a:prstGeom>
          <a:solidFill>
            <a:srgbClr val="0D4F3F"/>
          </a:solidFill>
          <a:ln w="12700">
            <a:solidFill>
              <a:srgbClr val="0D4F3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28616" y="2752344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GeoAI &amp; Context API למפתחים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501384" y="3401568"/>
            <a:ext cx="109728" cy="109728"/>
          </a:xfrm>
          <a:prstGeom prst="ellipse">
            <a:avLst/>
          </a:prstGeom>
          <a:solidFill>
            <a:srgbClr val="0D4F3F"/>
          </a:solidFill>
          <a:ln w="12700">
            <a:solidFill>
              <a:srgbClr val="0D4F3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28616" y="3346704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Affiliate: Booking, Amadeus, Expedia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501384" y="3995928"/>
            <a:ext cx="109728" cy="109728"/>
          </a:xfrm>
          <a:prstGeom prst="ellipse">
            <a:avLst/>
          </a:prstGeom>
          <a:solidFill>
            <a:srgbClr val="0D4F3F"/>
          </a:solidFill>
          <a:ln w="12700">
            <a:solidFill>
              <a:srgbClr val="0D4F3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28616" y="3941064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פיילוטים ל-Enterprise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940296" y="1325880"/>
            <a:ext cx="1993392" cy="292608"/>
          </a:xfrm>
          <a:prstGeom prst="roundRect">
            <a:avLst>
              <a:gd name="adj" fmla="val 18750"/>
            </a:avLst>
          </a:prstGeom>
          <a:solidFill>
            <a:srgbClr val="3D2C6E"/>
          </a:solidFill>
          <a:ln w="12700">
            <a:solidFill>
              <a:srgbClr val="3D2C6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40296" y="1325880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שלב 4 · שנה 3–5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940296" y="1691640"/>
            <a:ext cx="1993392" cy="3154680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068312" y="176479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3D2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קנה מידה גלובלי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8677656" y="2212848"/>
            <a:ext cx="109728" cy="109728"/>
          </a:xfrm>
          <a:prstGeom prst="ellipse">
            <a:avLst/>
          </a:prstGeom>
          <a:solidFill>
            <a:srgbClr val="3D2C6E"/>
          </a:solidFill>
          <a:ln w="12700">
            <a:solidFill>
              <a:srgbClr val="3D2C6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104888" y="2157984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התרחבות לצפון אמריקה ו-APAC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8677656" y="2807208"/>
            <a:ext cx="109728" cy="109728"/>
          </a:xfrm>
          <a:prstGeom prst="ellipse">
            <a:avLst/>
          </a:prstGeom>
          <a:solidFill>
            <a:srgbClr val="3D2C6E"/>
          </a:solidFill>
          <a:ln w="12700">
            <a:solidFill>
              <a:srgbClr val="3D2C6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104888" y="2752344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רב-לשוני ורב-מטבעי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677656" y="3401568"/>
            <a:ext cx="109728" cy="109728"/>
          </a:xfrm>
          <a:prstGeom prst="ellipse">
            <a:avLst/>
          </a:prstGeom>
          <a:solidFill>
            <a:srgbClr val="3D2C6E"/>
          </a:solidFill>
          <a:ln w="12700">
            <a:solidFill>
              <a:srgbClr val="3D2C6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104888" y="3346704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רישוי Intelligence as a Service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8677656" y="3995928"/>
            <a:ext cx="109728" cy="109728"/>
          </a:xfrm>
          <a:prstGeom prst="ellipse">
            <a:avLst/>
          </a:prstGeom>
          <a:solidFill>
            <a:srgbClr val="3D2C6E"/>
          </a:solidFill>
          <a:ln w="12700">
            <a:solidFill>
              <a:srgbClr val="3D2C6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104888" y="3941064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מסלול שותפות אסטרטגית / רכישה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11480" y="480060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תיירות נבחרה כראש גשר — ארכיטקטורת הפלטפורמה ניתנת להרחבה לכל ורטיקל מבוסס מיקום והקשר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086600" y="228600"/>
            <a:ext cx="1645920" cy="256032"/>
          </a:xfrm>
          <a:prstGeom prst="roundRect">
            <a:avLst>
              <a:gd name="adj" fmla="val 21429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086600" y="2286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מפת דרכים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מארכיטקטורה לייצור: נתיב ברור של 18 חודשים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892040" y="1298448"/>
            <a:ext cx="384048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74920" y="138988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מצב נוכחי — V5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028432" y="1874520"/>
            <a:ext cx="109728" cy="109728"/>
          </a:xfrm>
          <a:prstGeom prst="ellipse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74920" y="182880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255 קבצים · TypeScript + React + Vite + Tailwind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028432" y="2322576"/>
            <a:ext cx="109728" cy="109728"/>
          </a:xfrm>
          <a:prstGeom prst="ellipse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74920" y="2276856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ארכיטקטורה מלאה: 7 גלי אספקה (W0–W6)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28432" y="2770632"/>
            <a:ext cx="109728" cy="109728"/>
          </a:xfrm>
          <a:prstGeom prst="ellipse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74920" y="2724912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יכולות תשתית מתוכננות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28432" y="3218688"/>
            <a:ext cx="109728" cy="109728"/>
          </a:xfrm>
          <a:prstGeom prst="ellipse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74920" y="317296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שכבות פלטפורמה, 3 פרופילי פריסה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28432" y="366674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74920" y="3621024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 13 דומייני הנתונים (Mock — הארכיטקטורה מוכחת)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28432" y="4114800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74920" y="406908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ציון ארכיטקטורה: 92/100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028432" y="4562856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4920" y="4517136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בשלות פונקציונלית: 28/100 (ללא API אמיתי)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11480" y="1298448"/>
            <a:ext cx="429768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0E0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138988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אבני הדרך הבאות — V6 → V7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4360" y="1874520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1874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שבועות 1–6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783080" y="1856232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חיבור API אמיתי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94360" y="2167128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Places · OpenWeather · PostGIS · OpenAI · Claude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94360" y="2679192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26791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חודשים 2–5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783080" y="2660904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בידולים ליבה בפעולה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94360" y="297180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GeoAI · מנוע הקשר · מצב AI ילדים · תצוגת AR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94360" y="3483864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0D4F3F"/>
          </a:solidFill>
          <a:ln w="12700">
            <a:solidFill>
              <a:srgbClr val="0D4F3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348386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חודשים 5–9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783080" y="3465576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0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שכבת מסחר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94360" y="3776472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חיפוש טיסות (Amadeus) · הזמנת מלונות · White Label ראשון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94360" y="4288536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3D2C6E"/>
          </a:solidFill>
          <a:ln w="12700">
            <a:solidFill>
              <a:srgbClr val="3D2C6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" y="42885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חודשים 9–18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783080" y="427024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3D2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קנה מידה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94360" y="4581144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אפליקציה נייד · OSM עמוק · White Label רב-דיירים · Destination Hub V1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94360" y="47091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יעד בשלות פונקציונלית: 91/100 בסיום מפת הדרכים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086600" y="228600"/>
            <a:ext cx="1645920" cy="256032"/>
          </a:xfrm>
          <a:prstGeom prst="roundRect">
            <a:avLst>
              <a:gd name="adj" fmla="val 21429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086600" y="2286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השקעה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מגייסים $750K Pre-Seed כדי להביא את ViaNova לייצור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2743200" cy="2468880"/>
          </a:xfrm>
          <a:prstGeom prst="roundRect">
            <a:avLst>
              <a:gd name="adj" fmla="val 5185"/>
            </a:avLst>
          </a:prstGeom>
          <a:solidFill>
            <a:srgbClr val="0E20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4475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8288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$750K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Pre-Money: $3M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" y="2834640"/>
            <a:ext cx="2377440" cy="182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88950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b="1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שימוש בכסף: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312724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AA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חי לייצור · צוות ליבה · פיילוט משתמשים · עסקת White Label ראשונה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19272" y="1325880"/>
            <a:ext cx="2743200" cy="2468880"/>
          </a:xfrm>
          <a:prstGeom prst="roundRect">
            <a:avLst>
              <a:gd name="adj" fmla="val 5185"/>
            </a:avLst>
          </a:prstGeom>
          <a:solidFill>
            <a:srgbClr val="0E2040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02152" y="144475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02152" y="18288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$2M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3502152" y="2514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Pre-Money: $10M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502152" y="2834640"/>
            <a:ext cx="2377440" cy="182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02152" y="288950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b="1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שימוש בכסף: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502152" y="312724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AA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צמיחת B2C · 10+ White Label · Marketplace V1 · צוות ל-12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27064" y="1325880"/>
            <a:ext cx="2743200" cy="2468880"/>
          </a:xfrm>
          <a:prstGeom prst="roundRect">
            <a:avLst>
              <a:gd name="adj" fmla="val 5185"/>
            </a:avLst>
          </a:prstGeom>
          <a:solidFill>
            <a:srgbClr val="0E2040"/>
          </a:solidFill>
          <a:ln w="12700">
            <a:solidFill>
              <a:srgbClr val="0D4F3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9944" y="144475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0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9944" y="18288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$6M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6409944" y="2514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Pre-Money: $30M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9944" y="2834640"/>
            <a:ext cx="2377440" cy="182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9944" y="288950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00" b="1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שימוש בכסף: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09944" y="312724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AA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התרחבות בינלאומית · Enterprise · Platform APIs · 60K+ משתמשי פרימיום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11480" y="3977640"/>
            <a:ext cx="8321040" cy="822960"/>
          </a:xfrm>
          <a:prstGeom prst="roundRect">
            <a:avLst>
              <a:gd name="adj" fmla="val 13333"/>
            </a:avLst>
          </a:prstGeom>
          <a:solidFill>
            <a:srgbClr val="0C1E35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40873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אנחנו מחפשים: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5800" y="43434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משקיעי Pre-Seed ($250K–$750K)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00600" y="43434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שותפויות עם DMOs ולוחות תיירות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85800" y="45994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שותפויות עם ספקי API (מפות, טיסות, מזג אוויר)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00600" y="45994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פיתוח משותף וברית אסטרטגית ב-travel-tech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640080" y="-548640"/>
            <a:ext cx="2194560" cy="2194560"/>
          </a:xfrm>
          <a:prstGeom prst="ellipse">
            <a:avLst/>
          </a:prstGeom>
          <a:solidFill>
            <a:srgbClr val="0D2035"/>
          </a:solidFill>
          <a:ln w="12700">
            <a:solidFill>
              <a:srgbClr val="0D20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548640" y="731520"/>
            <a:ext cx="1280160" cy="1280160"/>
          </a:xfrm>
          <a:prstGeom prst="ellipse">
            <a:avLst/>
          </a:prstGeom>
          <a:solidFill>
            <a:srgbClr val="0E2540"/>
          </a:solidFill>
          <a:ln w="12700">
            <a:solidFill>
              <a:srgbClr val="0E25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38160" y="3749040"/>
            <a:ext cx="1645920" cy="1645920"/>
          </a:xfrm>
          <a:prstGeom prst="ellipse">
            <a:avLst/>
          </a:prstGeom>
          <a:solidFill>
            <a:srgbClr val="0D2035"/>
          </a:solidFill>
          <a:ln w="12700">
            <a:solidFill>
              <a:srgbClr val="0D20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0" y="2423160"/>
            <a:ext cx="32004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50292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החזון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96012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"כל מסע ראוי לבינה."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11480" y="1810512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ViaNova תהפוך לשכבת הבינה של תעשיית התיירות העולמית —</a:t>
            </a:r>
            <a:endParaRPr lang="en-US" sz="1400" dirty="0"/>
          </a:p>
          <a:p>
            <a:pPr rtl="1" algn="r" indent="0" marL="0">
              <a:buNone/>
            </a:pPr>
            <a:r>
              <a:rPr lang="en-US" sz="14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משלבת AI, GeoAI והקשר אנושי לפלטפורמה שנוסעת איתך.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2743200"/>
            <a:ext cx="2651760" cy="2057400"/>
          </a:xfrm>
          <a:prstGeom prst="roundRect">
            <a:avLst>
              <a:gd name="adj" fmla="val 6222"/>
            </a:avLst>
          </a:prstGeom>
          <a:solidFill>
            <a:srgbClr val="0E2040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2852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🌍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85800" y="2880360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למטיילים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3337560"/>
            <a:ext cx="23042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פלטפורמה אחת שמכירה אותך,</a:t>
            </a:r>
            <a:endParaRPr lang="en-US" sz="1100" dirty="0"/>
          </a:p>
          <a:p>
            <a:pPr rtl="1" algn="r" indent="0" marL="0">
              <a:buNone/>
            </a:pPr>
            <a:r>
              <a:rPr lang="en-US" sz="11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מבינה היכן אתה נמצא,</a:t>
            </a:r>
            <a:endParaRPr lang="en-US" sz="1100" dirty="0"/>
          </a:p>
          <a:p>
            <a:pPr rtl="1" algn="r" indent="0" marL="0">
              <a:buNone/>
            </a:pPr>
            <a:r>
              <a:rPr lang="en-US" sz="11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ומהפכת כל נסיעה לחוויה יוצאת דופן.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83280" y="2743200"/>
            <a:ext cx="2651760" cy="2057400"/>
          </a:xfrm>
          <a:prstGeom prst="roundRect">
            <a:avLst>
              <a:gd name="adj" fmla="val 6222"/>
            </a:avLst>
          </a:prstGeom>
          <a:solidFill>
            <a:srgbClr val="0E2040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49240" y="2852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🏛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566160" y="2880360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ליעדים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66160" y="3337560"/>
            <a:ext cx="23042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תשתית תיירות חכמה</a:t>
            </a:r>
            <a:endParaRPr lang="en-US" sz="1100" dirty="0"/>
          </a:p>
          <a:p>
            <a:pPr rtl="1" algn="r" indent="0" marL="0">
              <a:buNone/>
            </a:pPr>
            <a:r>
              <a:rPr lang="en-US" sz="11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לערים, DMOs ואזורים</a:t>
            </a:r>
            <a:endParaRPr lang="en-US" sz="1100" dirty="0"/>
          </a:p>
          <a:p>
            <a:pPr rtl="1" algn="r" indent="0" marL="0">
              <a:buNone/>
            </a:pPr>
            <a:r>
              <a:rPr lang="en-US" sz="11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המתחרים בעידן הדיגיטלי.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63640" y="2743200"/>
            <a:ext cx="2651760" cy="2057400"/>
          </a:xfrm>
          <a:prstGeom prst="roundRect">
            <a:avLst>
              <a:gd name="adj" fmla="val 6222"/>
            </a:avLst>
          </a:prstGeom>
          <a:solidFill>
            <a:srgbClr val="0E2040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2852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🔌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446520" y="2880360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לתעשייה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46520" y="3337560"/>
            <a:ext cx="23042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שכבת בינה פתוחה —</a:t>
            </a:r>
            <a:endParaRPr lang="en-US" sz="1100" dirty="0"/>
          </a:p>
          <a:p>
            <a:pPr rtl="1" algn="r" indent="0" marL="0">
              <a:buNone/>
            </a:pPr>
            <a:r>
              <a:rPr lang="en-US" sz="11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APIs, White Label ונתונים</a:t>
            </a:r>
            <a:endParaRPr lang="en-US" sz="1100" dirty="0"/>
          </a:p>
          <a:p>
            <a:pPr rtl="1" algn="r" indent="0" marL="0">
              <a:buNone/>
            </a:pPr>
            <a:r>
              <a:rPr lang="en-US" sz="1100" dirty="0">
                <a:solidFill>
                  <a:srgbClr val="8E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שמניעים את הדור הבא.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1480" y="477316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3A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contact@vianoa.io  |  vianoa.io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2026-07-19T09:40:02Z</dcterms:created>
  <dcterms:modified xsi:type="dcterms:W3CDTF">2026-07-19T09:40:02Z</dcterms:modified>
</cp:coreProperties>
</file>