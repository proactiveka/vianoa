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91BD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</c:v>
                </c:pt>
                <c:pt idx="1">
                  <c:v>0.9</c:v>
                </c:pt>
                <c:pt idx="2">
                  <c:v>2.3</c:v>
                </c:pt>
                <c:pt idx="3">
                  <c:v>4.8</c:v>
                </c:pt>
                <c:pt idx="4">
                  <c:v>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Case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0.45</c:v>
                </c:pt>
                <c:pt idx="1">
                  <c:v>1.4</c:v>
                </c:pt>
                <c:pt idx="2">
                  <c:v>3.5</c:v>
                </c:pt>
                <c:pt idx="3">
                  <c:v>8</c:v>
                </c:pt>
                <c:pt idx="4">
                  <c:v>19.94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rgbClr val="0A16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0.6</c:v>
                </c:pt>
                <c:pt idx="1">
                  <c:v>2.5</c:v>
                </c:pt>
                <c:pt idx="2">
                  <c:v>7.5</c:v>
                </c:pt>
                <c:pt idx="3">
                  <c:v>18</c:v>
                </c:pt>
                <c:pt idx="4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6B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6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365760"/>
            <a:ext cx="1645920" cy="164592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502920"/>
            <a:ext cx="1005840" cy="1005840"/>
          </a:xfrm>
          <a:prstGeom prst="ellipse">
            <a:avLst/>
          </a:prstGeom>
          <a:solidFill>
            <a:srgbClr val="0E2540"/>
          </a:solidFill>
          <a:ln w="12700">
            <a:solidFill>
              <a:srgbClr val="0E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-182880"/>
            <a:ext cx="731520" cy="731520"/>
          </a:xfrm>
          <a:prstGeom prst="ellipse">
            <a:avLst/>
          </a:prstGeom>
          <a:solidFill>
            <a:srgbClr val="0C1E30"/>
          </a:solidFill>
          <a:ln w="12700">
            <a:solidFill>
              <a:srgbClr val="0C1E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365760" y="4114800"/>
            <a:ext cx="1280160" cy="128016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4709160"/>
            <a:ext cx="640080" cy="640080"/>
          </a:xfrm>
          <a:prstGeom prst="ellipse">
            <a:avLst/>
          </a:prstGeom>
          <a:solidFill>
            <a:srgbClr val="0E2540"/>
          </a:solidFill>
          <a:ln w="12700">
            <a:solidFill>
              <a:srgbClr val="0E25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43484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68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325880" y="8686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&amp; GeoAI Experience Intelligence Platform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people, places, AI &amp; geography into one seamless travel experience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5943600" cy="36576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175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replacing Google, Booking.com or ChatGPT — the intelligence layer above them 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Platform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3657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Platform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657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Platform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3657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Platform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617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Strategic Partner Presentation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planning is broken — and nobody owns the full journey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per trip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3063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24912" y="1463040"/>
            <a:ext cx="475488" cy="475488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06624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10128" y="1463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24912" y="19385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Maps. Booking.com. TripAdvisor. Instagram.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connects them.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1280160"/>
            <a:ext cx="3063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71032" y="1463040"/>
            <a:ext cx="475488" cy="475488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56248" y="1463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Intelligence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71032" y="19385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don't understand who you are,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you're traveling, or what you truly want.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3017520"/>
            <a:ext cx="3063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24912" y="3200400"/>
            <a:ext cx="475488" cy="475488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06624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10128" y="3200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Booking Gap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24912" y="36758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happens on social media.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happens elsewhere. Memory is lost.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06440" y="3017520"/>
            <a:ext cx="3063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71032" y="3200400"/>
            <a:ext cx="475488" cy="475488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52744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56248" y="3200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DMOs Are Left Behind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71032" y="36758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boards, cities &amp; destinations lack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intelligence infrastructure to compete.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4572000"/>
            <a:ext cx="8321040" cy="347472"/>
          </a:xfrm>
          <a:prstGeom prst="roundRect">
            <a:avLst>
              <a:gd name="adj" fmla="val 15789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travel industry generates $11.6 trillion annually — yet the traveler experience remains fundamentally disconnected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$11.6 trillion industry undergoing its deepest digital transformation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80160"/>
            <a:ext cx="2743200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Economy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$11.6T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27614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(WTTC)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35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$16.5T by 2035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19272" y="128016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9272" y="1280160"/>
            <a:ext cx="2743200" cy="201168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554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Online Bookings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0712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$650B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456432" y="27614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(Statista)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56432" y="3035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$1T+ by 2030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27064" y="128016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27064" y="1280160"/>
            <a:ext cx="2743200" cy="201168"/>
          </a:xfrm>
          <a:prstGeom prst="rect">
            <a:avLst/>
          </a:prstGeom>
          <a:solidFill>
            <a:srgbClr val="1A6B50"/>
          </a:solidFill>
          <a:ln w="12700">
            <a:solidFill>
              <a:srgbClr val="1A6B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554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Market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8504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$271B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364224" y="27614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(Phocuswright)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64224" y="3035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$398B by 2030 · CAGR 8%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70332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&amp; White Label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41330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segment. Expedia B2B: +21% in 2024, reaching 30% of revenue.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ViaNova's White Label &amp; API channels capture recurring enterprise revenue.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370332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Beachhead Market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41330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€347B in bookings (2024) → €453B by 2030 (Phocuswright).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DMO density, multilingual demand, ideal for Destination Hub roll-out.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forces converging to make this the right moment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536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Matured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2648" y="19659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Claude, Gemini now deliver reliable context reasoning at scale.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at 1:1 depth is finally viable.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1536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Is Emerging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01768" y="19659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AI (Esri, Google Maps Platform, OSM) is converging with LLMs.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 is positioned at this intersection — before incumbents move.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227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32278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Is Booming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648" y="36576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 billion international arrivals in 2025 (+4% YoY). UNWTO projects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1.76B by 2030. Post-COVID demand is structural, not cyclical.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06324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3227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77840" y="32278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Shifted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01768" y="36576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expect Netflix-level personalization, TikTok-speed discovery,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Apple-grade UX — from their travel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ViaNova: one unified platform, four intelligent layers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06240" y="1755648"/>
            <a:ext cx="731520" cy="2926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9164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691640"/>
            <a:ext cx="164592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46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Platform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0391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personalization,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Lifecycle, Profiles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04488" y="1984248"/>
            <a:ext cx="320040" cy="731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51460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514600"/>
            <a:ext cx="164592" cy="713232"/>
          </a:xfrm>
          <a:prstGeom prst="rect">
            <a:avLst/>
          </a:prstGeom>
          <a:solidFill>
            <a:srgbClr val="1A5C7A"/>
          </a:solidFill>
          <a:ln w="12700">
            <a:solidFill>
              <a:srgbClr val="1A5C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694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Platform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862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Label, DMO Hub,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&amp; Marketplace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04488" y="2807208"/>
            <a:ext cx="320040" cy="73152"/>
          </a:xfrm>
          <a:prstGeom prst="rect">
            <a:avLst/>
          </a:prstGeom>
          <a:solidFill>
            <a:srgbClr val="1A5C7A"/>
          </a:solidFill>
          <a:ln w="12700">
            <a:solidFill>
              <a:srgbClr val="1A5C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33756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337560"/>
            <a:ext cx="164592" cy="713232"/>
          </a:xfrm>
          <a:prstGeom prst="rect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3924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Platform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6850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Engine, GeoAI,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OpenAI integration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04488" y="3630168"/>
            <a:ext cx="320040" cy="73152"/>
          </a:xfrm>
          <a:prstGeom prst="rect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16052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160520"/>
            <a:ext cx="164592" cy="713232"/>
          </a:xfrm>
          <a:prstGeom prst="rect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153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Platform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4507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GGILS, Data, Security,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Infrastructure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04488" y="4453128"/>
            <a:ext cx="320040" cy="73152"/>
          </a:xfrm>
          <a:prstGeom prst="rect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1691640"/>
            <a:ext cx="3611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17465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2039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context-aware travel intelligence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2514600"/>
            <a:ext cx="3611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2569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2862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 &amp; API: DMOs, agencies, platforms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20640" y="3337560"/>
            <a:ext cx="3611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33924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0" y="3685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tourism management &amp; analytics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20640" y="4160520"/>
            <a:ext cx="3611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4215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0" y="4507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&amp; Context APIs for travel-tech builders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 no competitor combines today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499616"/>
            <a:ext cx="475488" cy="475488"/>
          </a:xfrm>
          <a:prstGeom prst="ellipse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6152" y="1481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2648" y="204825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full traveler context: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where, when, why, budget, party, history.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Personalizes every interaction dynamically.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298448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01768" y="1499616"/>
            <a:ext cx="475488" cy="47548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05272" y="1481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Intelligence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01768" y="204825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AI with spatial geography (GeoAI).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proximity, walkability, culture,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gems — not just coordinates.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172968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3374136"/>
            <a:ext cx="475488" cy="47548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16152" y="33558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GGILS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" y="392277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Geographic Intelligence Layer Service.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Validates, normalizes &amp; enriches geographic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OSM, Wikidata, UNESCO, Wikimedia.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172968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01768" y="3374136"/>
            <a:ext cx="475488" cy="47548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05272" y="33558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Trip Lifecycle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01768" y="392277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4 phases: Pre-Planning → Planning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(real-time) → Vault (memories &amp; reuse).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platform spans the full journey.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layers operate together — powered by Claude, OpenAI, OSM, Google Places, Amadeus &amp; Ticketmaster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trip lifecycle — from inspiration to memory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PRE-PLANNING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&amp; Discovery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31720" y="1499616"/>
            <a:ext cx="182880" cy="54864"/>
          </a:xfrm>
          <a:prstGeom prst="rect">
            <a:avLst/>
          </a:prstGeom>
          <a:solidFill>
            <a:srgbClr val="8EA6BE"/>
          </a:solidFill>
          <a:ln w="12700">
            <a:solidFill>
              <a:srgbClr val="8EA6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20240"/>
            <a:ext cx="192024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202996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9842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Explore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" y="256032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514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Places &amp; Events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" y="309067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Profiles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" y="3621024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575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Recommendations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" y="4151376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4105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Destinations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1460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1261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15819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Organize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34840" y="1499616"/>
            <a:ext cx="182880" cy="54864"/>
          </a:xfrm>
          <a:prstGeom prst="rect">
            <a:avLst/>
          </a:prstGeom>
          <a:solidFill>
            <a:srgbClr val="8EA6BE"/>
          </a:solidFill>
          <a:ln w="12700">
            <a:solidFill>
              <a:srgbClr val="8EA6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4600" y="1920240"/>
            <a:ext cx="192024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79192" y="2029968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62072" y="19842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Builder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79192" y="2560320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62072" y="2514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Itinerary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79192" y="3090672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62072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Workspace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79192" y="3621024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62072" y="3575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Planner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679192" y="4151376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62072" y="4105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Integration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1772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1261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17720" y="15819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Navigation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37960" y="1499616"/>
            <a:ext cx="182880" cy="54864"/>
          </a:xfrm>
          <a:prstGeom prst="rect">
            <a:avLst/>
          </a:prstGeom>
          <a:solidFill>
            <a:srgbClr val="8EA6BE"/>
          </a:solidFill>
          <a:ln w="12700">
            <a:solidFill>
              <a:srgbClr val="8EA6B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7720" y="1920240"/>
            <a:ext cx="192024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82312" y="2029968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19842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Map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82312" y="2560320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2514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Navigation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82312" y="3090672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65192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Alerts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82312" y="3621024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65192" y="3575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Discovery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4151376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65192" y="4105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72084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1261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720840" y="15819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Reuse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20840" y="1920240"/>
            <a:ext cx="192024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85432" y="2029968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68312" y="19842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Archive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885432" y="2560320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68312" y="2514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Memories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885432" y="3090672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68312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Log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885432" y="3621024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68312" y="3575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as Template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885432" y="4151376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68312" y="4105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Itinerary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revenue streams across B2C, B2B and platform layers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9933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19933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636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B2C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1109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110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208" y="22037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$6/mo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" y="24780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trip planning, offline access, priority support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87752" y="1325880"/>
            <a:ext cx="19933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7752" y="1325880"/>
            <a:ext cx="1993392" cy="1645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5636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79192" y="191109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19110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License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97480" y="22037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$1,800–5,000/mo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24780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for DMOs, tourism boards &amp; travel brands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64024" y="1325880"/>
            <a:ext cx="19933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64024" y="1325880"/>
            <a:ext cx="1993392" cy="164592"/>
          </a:xfrm>
          <a:prstGeom prst="rect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5636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55464" y="191109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19110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73752" y="22037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8–15% commission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73752" y="24780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experience &amp; activity bookings within the platform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40296" y="1325880"/>
            <a:ext cx="19933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0296" y="1325880"/>
            <a:ext cx="1993392" cy="164592"/>
          </a:xfrm>
          <a:prstGeom prst="rect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0024" y="15636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31736" y="191109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31736" y="19110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50024" y="22037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/ Rev-share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50024" y="24780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Flights, hotels &amp; services via Amadeus, Booking.com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3154680"/>
            <a:ext cx="19933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3154680"/>
            <a:ext cx="1993392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33924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Data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" y="373989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739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1208" y="40325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1208" y="43068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GeoAI, Context Engine &amp; GGILS APIs for travel-tech builders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87752" y="3154680"/>
            <a:ext cx="19933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87752" y="3154680"/>
            <a:ext cx="1993392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97480" y="33924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679192" y="373989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9192" y="3739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697480" y="40325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contract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697480" y="43068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intelligence for large travel groups &amp; corporations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64024" y="3154680"/>
            <a:ext cx="19933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64024" y="3154680"/>
            <a:ext cx="1993392" cy="16459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73752" y="33924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Hub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855464" y="373989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55464" y="3739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Gov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73752" y="40325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$4,000–15,000/mo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73752" y="43068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destination management platform for cities &amp; regions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940296" y="3154680"/>
            <a:ext cx="19933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40296" y="3154680"/>
            <a:ext cx="1993392" cy="164592"/>
          </a:xfrm>
          <a:prstGeom prst="rect">
            <a:avLst/>
          </a:prstGeom>
          <a:solidFill>
            <a:srgbClr val="8EA6BE"/>
          </a:solidFill>
          <a:ln w="12700">
            <a:solidFill>
              <a:srgbClr val="8EA6B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0024" y="33924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Services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031736" y="373989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31736" y="3739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50024" y="40325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050024" y="43068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training, custom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/ SAM / SOM — addressable without capturing dominant share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3291840"/>
          </a:xfrm>
          <a:prstGeom prst="roundRect">
            <a:avLst>
              <a:gd name="adj" fmla="val 5556"/>
            </a:avLst>
          </a:prstGeom>
          <a:solidFill>
            <a:srgbClr val="EBF5FA"/>
          </a:solidFill>
          <a:ln w="12700">
            <a:solidFill>
              <a:srgbClr val="C0D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801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38988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$11.6T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6616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travel &amp; tourism economy (WTTC 2025)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1.52B international travelers · $1.6T in bookings · $271B experiences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423160"/>
            <a:ext cx="7772400" cy="1993392"/>
          </a:xfrm>
          <a:prstGeom prst="roundRect">
            <a:avLst>
              <a:gd name="adj" fmla="val 6881"/>
            </a:avLst>
          </a:prstGeom>
          <a:solidFill>
            <a:srgbClr val="D5EEF8"/>
          </a:solidFill>
          <a:ln w="12700">
            <a:solidFill>
              <a:srgbClr val="A0C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514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~$700B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65760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travel planning, experiences &amp; B2B SaaS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+ priority markets · Digital-native travelers · DMOs &amp; travel-tech SaaS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3493008"/>
            <a:ext cx="7132320" cy="9144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58444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8308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 — Year 1–5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35478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~$8.5–20M ARR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83080" y="38862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 premium users · 35–80 White Label clients · 5–10 Destination Hubs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revenue outlook — three scenarios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28016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1280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Milestones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0" y="1783080"/>
            <a:ext cx="16459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9632" y="18379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to commercial product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99632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$2.5–3.5M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43600" y="2532888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0" y="2532888"/>
            <a:ext cx="16459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9632" y="2587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ARR by Year 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99632" y="2852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943600" y="3282696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0" y="3282696"/>
            <a:ext cx="164592" cy="658368"/>
          </a:xfrm>
          <a:prstGeom prst="rect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9632" y="3337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to reach breakeven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99632" y="3602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 premium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943600" y="4032504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0" y="4032504"/>
            <a:ext cx="164592" cy="658368"/>
          </a:xfrm>
          <a:prstGeom prst="rect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9632" y="4087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at Year 5 (base)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199632" y="43525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$85–110M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943600" y="4782312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43600" y="4782312"/>
            <a:ext cx="164592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99632" y="48371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at scale (Year 7+)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99632" y="5102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$265–305M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USD millions. Base case assumes MVP launch in Year 1, first White Label clients in Year 2, breakeven approach in Year 4.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 occupies a unique intelligence layer — not a booking engine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011680" y="3035808"/>
            <a:ext cx="5120640" cy="0"/>
          </a:xfrm>
          <a:prstGeom prst="line">
            <a:avLst/>
          </a:prstGeom>
          <a:noFill/>
          <a:ln w="12700">
            <a:solidFill>
              <a:srgbClr val="C0CE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298448"/>
            <a:ext cx="0" cy="3474720"/>
          </a:xfrm>
          <a:prstGeom prst="line">
            <a:avLst/>
          </a:prstGeom>
          <a:noFill/>
          <a:ln w="12700">
            <a:solidFill>
              <a:srgbClr val="C0CE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3108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Personalization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3108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Personalization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45171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only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journey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28493" y="2995574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6237" y="297728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70048" y="2648102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262981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76749" y="2752344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14493" y="27340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Travel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23667" y="2231136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1411" y="2212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TripAdvisor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14016" y="3343046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332475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88813" y="2057400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26557" y="2039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Wanderlog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09437" y="1375258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9205" y="139354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60920" y="1298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ViaNova wins in its niche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60920" y="192024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52944" y="186537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platform spanning Pre-Planning → Live → Vault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60920" y="241401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52944" y="235915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Engine: understands who, why, when, how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60920" y="290779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52944" y="285292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GeoAI: spatial intelligence beyond GPS coordinates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60920" y="340156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52944" y="334670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GGILS: geographic data validation layer (proprietary)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60920" y="389534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52944" y="384048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Google, Booking &amp; ChatGPT — not against them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60920" y="438912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2944" y="433425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Label: invisible infrastructure for destinations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digital travelers in Europe · Scale: global destinations &amp; B2B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993392" cy="292608"/>
          </a:xfrm>
          <a:prstGeom prst="roundRect">
            <a:avLst>
              <a:gd name="adj" fmla="val 1875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Year 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1993392" cy="31546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764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Beachhead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" y="221284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215798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freemium app for European travelers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" y="280720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275234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adventurous, digital-native 25–40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" y="340156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" y="334670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Acquisition: SEO, travel influencers, organic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" y="399592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394106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Premium: $6/mo AI planning features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87752" y="1325880"/>
            <a:ext cx="1993392" cy="292608"/>
          </a:xfrm>
          <a:prstGeom prst="roundRect">
            <a:avLst>
              <a:gd name="adj" fmla="val 1875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752" y="13258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Year 1–2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87752" y="1691640"/>
            <a:ext cx="1993392" cy="31546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15768" y="1764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White Label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34056" y="2212848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16936" y="215798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DMOs &amp; tourism boards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34056" y="2807208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16936" y="275234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Hub for cities &amp; regions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34056" y="3401568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16936" y="334670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&amp; OTA white-label deals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34056" y="3995928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16936" y="394106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€4,000–15,000/mo per deployment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64024" y="1325880"/>
            <a:ext cx="1993392" cy="292608"/>
          </a:xfrm>
          <a:prstGeom prst="roundRect">
            <a:avLst>
              <a:gd name="adj" fmla="val 18750"/>
            </a:avLst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64024" y="13258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Year 2–3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64024" y="1691640"/>
            <a:ext cx="1993392" cy="31546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764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&amp; API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10328" y="2212848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93208" y="215798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bookings via Marketplace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10328" y="2807208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93208" y="275234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&amp; Context API for dev ecosystem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10328" y="3401568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93208" y="334670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revenue: Booking, Amadeus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10328" y="3995928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93208" y="394106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travel management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40296" y="1325880"/>
            <a:ext cx="1993392" cy="292608"/>
          </a:xfrm>
          <a:prstGeom prst="roundRect">
            <a:avLst>
              <a:gd name="adj" fmla="val 18750"/>
            </a:avLst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13258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Year 3–5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940296" y="1691640"/>
            <a:ext cx="1993392" cy="31546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68312" y="1764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Scale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086600" y="2212848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69480" y="215798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&amp; APAC expansion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086600" y="2807208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275234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&amp; multi-currency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86600" y="3401568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9480" y="334670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as a Service licensing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086600" y="3995928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480" y="394106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acquisition or partnership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496312" y="13898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672584" y="13898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848856" y="13898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chosen as beachhead — platform architecture is extensible to any location + context vertical (real estate, events, education, healthcare)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architecture to production: a clear 18-month path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V5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files · TypeScript + React + Vite + Tailwind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23225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7685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 across 7 delivery waves (W0–W6)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7706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249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infrastructure capabilities designed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32186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729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platform layers, 3 deployment profiles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666744"/>
            <a:ext cx="109728" cy="109728"/>
          </a:xfrm>
          <a:prstGeom prst="ellipse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2102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data domains (mock — architecture proven)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4114800"/>
            <a:ext cx="109728" cy="109728"/>
          </a:xfrm>
          <a:prstGeom prst="ellipse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690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score: 92/100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4562856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51713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readiness: 28/100 (no live APIs yet)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34840" y="1298448"/>
            <a:ext cx="42976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389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Milestones — V6 → V7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187452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874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715000" y="18562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API Connections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17720" y="216712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· OpenWeather · PostGIS · OpenAI · Claude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26791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26791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15000" y="26609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Differentiators Live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17720" y="29718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· Context Engine · AI Kids Mode · AR View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3483864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483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15000" y="34655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Layer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17720" y="37764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search (Amadeus) · Hotel booking · Ticketmaster · B2B first White Label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428853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42885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9–18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00" y="42702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17720" y="458114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· OSM deep integration · Multi-tenant White Label · Destination Hub V1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34840" y="47091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readiness target: 91/100 by end of roadmap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$750K Pre-Seed to bring ViaNova to life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743200" cy="2468880"/>
          </a:xfrm>
          <a:prstGeom prst="roundRect">
            <a:avLst>
              <a:gd name="adj" fmla="val 5185"/>
            </a:avLst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 pre-money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237744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89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1272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 APIs · Core team · Pilot users · Y1 White Label deal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19272" y="1325880"/>
            <a:ext cx="2743200" cy="2468880"/>
          </a:xfrm>
          <a:prstGeom prst="roundRect">
            <a:avLst>
              <a:gd name="adj" fmla="val 5185"/>
            </a:avLst>
          </a:prstGeom>
          <a:solidFill>
            <a:srgbClr val="0E204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02152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502152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 pre-money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02152" y="2834640"/>
            <a:ext cx="237744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2889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02152" y="31272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growth · 10+ White Label · Marketplace V1 · Team scale to 12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27064" y="1325880"/>
            <a:ext cx="2743200" cy="2468880"/>
          </a:xfrm>
          <a:prstGeom prst="roundRect">
            <a:avLst>
              <a:gd name="adj" fmla="val 5185"/>
            </a:avLst>
          </a:prstGeom>
          <a:solidFill>
            <a:srgbClr val="0E2040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9944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$6M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409944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$30M pre-money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9944" y="2834640"/>
            <a:ext cx="237744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2889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9944" y="31272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 · Enterprise sales · Platform APIs · 120K+ users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977640"/>
            <a:ext cx="8321040" cy="822960"/>
          </a:xfrm>
          <a:prstGeom prst="roundRect">
            <a:avLst>
              <a:gd name="adj" fmla="val 13333"/>
            </a:avLst>
          </a:prstGeom>
          <a:solidFill>
            <a:srgbClr val="0C1E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087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seeking: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Pre-Seed investors ($250K–$750K)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DMO / Tourism board partnerships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4599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data provider partnerships (Maps, Flights, Weather)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4599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Travel-tech co-development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548640"/>
            <a:ext cx="2194560" cy="219456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731520"/>
            <a:ext cx="1280160" cy="1280160"/>
          </a:xfrm>
          <a:prstGeom prst="ellipse">
            <a:avLst/>
          </a:prstGeom>
          <a:solidFill>
            <a:srgbClr val="0E2540"/>
          </a:solidFill>
          <a:ln w="12700">
            <a:solidFill>
              <a:srgbClr val="0E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640080" y="3749040"/>
            <a:ext cx="1645920" cy="164592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2316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02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journey deserves intelligence."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 will become the intelligence layer of the global travel industry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AI, GeoAI, and human context into the platform that travels with you.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52728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Travelers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that knows you,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where you are,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makes every trip extraordinary.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743200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🏛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33088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Destinations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33756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tourism infrastructure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cities, DMOs and regions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in the digital 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743200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🔌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13448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Industry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333756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intelligence layer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White Label &amp;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powers the next generation.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contact@vianoa.io  |  vianoa.io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ViaNova – Investor &amp; Partner Pitch</dc:title>
  <dc:subject>PptxGenJS Presentation</dc:subject>
  <dc:creator>ViaNova</dc:creator>
  <cp:lastModifiedBy>ViaNova</cp:lastModifiedBy>
  <cp:revision>1</cp:revision>
  <dcterms:created xsi:type="dcterms:W3CDTF">2026-07-19T09:19:02Z</dcterms:created>
  <dcterms:modified xsi:type="dcterms:W3CDTF">2026-07-19T09:19:02Z</dcterms:modified>
</cp:coreProperties>
</file>